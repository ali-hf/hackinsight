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Laiba, Ali, Areeba and Bushra, and this is HackInsight. Think about checking an air-quality app in Lahore: it tells you the number right now. But if you’re deciding whether kids play outside tomorrow, that number doesn’t help much. Knowing today’s air quality is useful; knowing what tomorrow may look like is actionable. That gap is what we built HackInsight for. Let’s start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air-quality information tells people what is happening. But a real decision needs three more answers: what happens next, how certain are we, and what should I do? On top of that, fresh sensor readings aren’t always available, so any honest system has to deal with that and not hide it. Our goal was to close this decision gap, so let me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HackInsight is an AI-powered PM2.5 forecasting and decision-support system for Lahore and Karachi. It follows five steps. Data: Pakistani ground-sensor and weather data. Trust: we validate it before using it. Predict: a 24-hour forecast. Explain: with uncertainty and a decision assistant. And Act: clear guidance people can use. Let’s begin with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worked with 176,392 rows and 16 columns from 30 sensors: 26 in Lahore and 4 in Karachi. Weather comes alongside: temperature, humidity, wind speed and direction, pressure, precipitation and dew point. Our gold dataset has zero null values and zero duplicate record IDs. It moves through raw, cleaned, then gold, and is validated at each step. Next, the part we’re proudest of: the agent that checks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key difference. We don’t send raw data straight into a model or an LLM. A Data Quality Agent checks schema, missing values, duplicates and value ranges, and then makes policy-driven decisions: fix what can be fixed, fill what can safely be filled, and flag what can’t be trusted. Forecasts are only as good as the data under them, and this makes the data trustworthy. Now let’s see the forecast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24-hour forecast for Lahore. The solid line is what was observed; the orange line is our prediction for the next 24 hours, with the shaded band showing an 80% uncertainty interval. The model is a HistGradientBoostingRegressor with 40 features, predicting 24 hours ahead on a log1p-transformed target. We always compare it against a persistence baseline, which simply assumes tomorrow looks like now. One note on honesty: the current value is a nowcast or estimate, and the forecast is a model output; we keep them clearly separate. So, does it actually beat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on 49,116 untouched observations, chronologically split so nothing leaks from the future. Model MAE is 40.8 micrograms per cubic metre versus 42.3 for persistence, 3.63% lower. RMSE is 5.79% lower, 69.6 against 73.9. And our 80% uncertainty interval covers 82.4% of real outcomes, so it’s well calibrated. We’re not claiming a perfect model. The honest result is that it beats a simple baseline on an untouched test set and gives calibrated uncertainty. Now, how does that become advice a person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PM2.5 number means little to most people. So the assistant turns it into risk and then into guidance. In this Lahore example it flags unhealthy air at 94.5, about 2.7 times the limit, recommends an N95 mask, says moderate outdoor activity is okay, and shows tomorrow’s projection of around 119. That’s the step from prediction to action. And people can ask follow-up questions in a full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Decision Assistant is conversational. You can compare Lahore and Karachi, ask about tomorrow’s forecast, or ask about school and mask guidance. Answers are grounded in trusted project information and listed sources, and the assistant isn’t allowed to invent numerical values. That makes it something people can reasonably trust. Now let’s look at how all of this runs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dashboard is a Prefect pipeline. It ingests data, validates it, runs the forecast, generates insights, logs everything, and updates the dashboard. Automating this means the system is reproducible and can keep running, not just work once on stage. Okay, time to show you the real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switch to the live dashboard. First, I’ll switch between Lahore and Karachi. Here is the current nowcast and the weather. Here’s the 24-hour forecast with its uncertainty band. This is the model evidence, and finally the Decision Assistant. If sensors haven’t reported recently, the system falls back to historical gold data and labels it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real data, validated by an agent, turned into a 24-hour forecast with calibrated uncertainty, and then into advice people can act on. Don’t just tell people how polluted the air is. Tell them what may happen next, and what they can do about it. We’re Laiba, Ali, Areeba and Bushra. Thank you, and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3F6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F8A70"/>
          </a:solidFill>
          <a:ln/>
        </p:spPr>
      </p:sp>
      <p:sp>
        <p:nvSpPr>
          <p:cNvPr id="3" name="Text 1"/>
          <p:cNvSpPr/>
          <p:nvPr/>
        </p:nvSpPr>
        <p:spPr>
          <a:xfrm>
            <a:off x="457200" y="4800600"/>
            <a:ext cx="5486400" cy="201168"/>
          </a:xfrm>
          <a:prstGeom prst="rect">
            <a:avLst/>
          </a:prstGeom>
          <a:noFill/>
          <a:ln/>
        </p:spPr>
        <p:txBody>
          <a:bodyPr wrap="square" lIns="0" tIns="0" rIns="0" bIns="0" rtlCol="0" anchor="ctr"/>
          <a:lstStyle/>
          <a:p>
            <a:pPr indent="0" marL="0">
              <a:buNone/>
            </a:pPr>
            <a:r>
              <a:rPr lang="en-US" sz="900" dirty="0">
                <a:solidFill>
                  <a:srgbClr val="7A8794"/>
                </a:solidFill>
              </a:rPr>
              <a:t>HackInsight · PM2.5 forecasting for Lahore &amp; Karachi</a:t>
            </a:r>
            <a:endParaRPr lang="en-US" sz="900" dirty="0"/>
          </a:p>
        </p:txBody>
      </p:sp>
      <p:sp>
        <p:nvSpPr>
          <p:cNvPr id="4" name="Text 2"/>
          <p:cNvSpPr/>
          <p:nvPr>
            <p:ph idx="102" type="title" hasCustomPrompt="1"/>
          </p:nvPr>
        </p:nvSpPr>
        <p:spPr>
          <a:xfrm>
            <a:off x="457200" y="274320"/>
            <a:ext cx="8229600" cy="640080"/>
          </a:xfrm>
          <a:prstGeom prst="rect">
            <a:avLst/>
          </a:prstGeom>
          <a:noFill/>
          <a:ln/>
        </p:spPr>
        <p:txBody>
          <a:bodyPr wrap="square" rtlCol="0"/>
          <a:lstStyle>
            <a:lvl1pPr indent="0" marL="0">
              <a:buNone/>
              <a:defRPr lang="en-US" sz="2400" b="1" dirty="0">
                <a:solidFill>
                  <a:srgbClr val="1F2A37"/>
                </a:solidFill>
                <a:latin typeface="Calibri" pitchFamily="34" charset="0"/>
                <a:ea typeface="Calibri" pitchFamily="34" charset="-122"/>
                <a:cs typeface="Calibri" pitchFamily="34" charset="-120"/>
              </a:defRPr>
            </a:lvl1pPr>
          </a:lstStyle>
          <a:p>
            <a:pPr indent="0" marL="0">
              <a:buNone/>
            </a:pPr>
            <a:endParaRPr lang="en-US" sz="2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solidFill>
          <a:srgbClr val="F3F6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F8A7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05840"/>
            <a:ext cx="5120640" cy="822960"/>
          </a:xfrm>
          <a:prstGeom prst="rect">
            <a:avLst/>
          </a:prstGeom>
          <a:noFill/>
          <a:ln/>
        </p:spPr>
        <p:txBody>
          <a:bodyPr wrap="square" lIns="0" tIns="0" rIns="0" bIns="0" rtlCol="0" anchor="t"/>
          <a:lstStyle/>
          <a:p>
            <a:pPr indent="0" marL="0">
              <a:buNone/>
            </a:pPr>
            <a:r>
              <a:rPr lang="en-US" sz="4800" b="1" dirty="0">
                <a:solidFill>
                  <a:srgbClr val="1F8A70"/>
                </a:solidFill>
                <a:latin typeface="Calibri" pitchFamily="34" charset="0"/>
                <a:ea typeface="Calibri" pitchFamily="34" charset="-122"/>
                <a:cs typeface="Calibri" pitchFamily="34" charset="-120"/>
              </a:rPr>
              <a:t>HackInsight</a:t>
            </a:r>
            <a:endParaRPr lang="en-US" sz="4800" dirty="0"/>
          </a:p>
        </p:txBody>
      </p:sp>
      <p:sp>
        <p:nvSpPr>
          <p:cNvPr id="3" name="Text 1"/>
          <p:cNvSpPr txBox="1"/>
          <p:nvPr/>
        </p:nvSpPr>
        <p:spPr>
          <a:xfrm>
            <a:off x="548640" y="1874520"/>
            <a:ext cx="4754880" cy="822960"/>
          </a:xfrm>
          <a:prstGeom prst="rect">
            <a:avLst/>
          </a:prstGeom>
          <a:noFill/>
          <a:ln/>
        </p:spPr>
        <p:txBody>
          <a:bodyPr wrap="square" lIns="0" tIns="0" rIns="0" bIns="0" rtlCol="0" anchor="t"/>
          <a:lstStyle/>
          <a:p>
            <a:pPr indent="0" marL="0">
              <a:buNone/>
            </a:pPr>
            <a:r>
              <a:rPr lang="en-US" sz="2000" dirty="0">
                <a:solidFill>
                  <a:srgbClr val="1F2A37"/>
                </a:solidFill>
                <a:latin typeface="Calibri" pitchFamily="34" charset="0"/>
                <a:ea typeface="Calibri" pitchFamily="34" charset="-122"/>
                <a:cs typeface="Calibri" pitchFamily="34" charset="-120"/>
              </a:rPr>
              <a:t>From Air Pollution Data to Actionable 24-Hour Forecasts</a:t>
            </a:r>
            <a:endParaRPr lang="en-US" sz="2000" dirty="0"/>
          </a:p>
        </p:txBody>
      </p:sp>
      <p:sp>
        <p:nvSpPr>
          <p:cNvPr id="4" name="Text 2"/>
          <p:cNvSpPr txBox="1"/>
          <p:nvPr/>
        </p:nvSpPr>
        <p:spPr>
          <a:xfrm>
            <a:off x="548640" y="3017520"/>
            <a:ext cx="4937760" cy="640080"/>
          </a:xfrm>
          <a:prstGeom prst="rect">
            <a:avLst/>
          </a:prstGeom>
          <a:noFill/>
          <a:ln/>
        </p:spPr>
        <p:txBody>
          <a:bodyPr wrap="square" lIns="0" tIns="0" rIns="0" bIns="0" rtlCol="0" anchor="t"/>
          <a:lstStyle/>
          <a:p>
            <a:pPr indent="0" marL="0">
              <a:buNone/>
            </a:pPr>
            <a:r>
              <a:rPr lang="en-US" sz="1200" b="1" dirty="0">
                <a:solidFill>
                  <a:srgbClr val="E8871E"/>
                </a:solidFill>
                <a:latin typeface="Calibri" pitchFamily="34" charset="0"/>
                <a:ea typeface="Calibri" pitchFamily="34" charset="-122"/>
                <a:cs typeface="Calibri" pitchFamily="34" charset="-120"/>
              </a:rPr>
              <a:t>Team
</a:t>
            </a:r>
            <a:pPr indent="0" marL="0">
              <a:buNone/>
            </a:pPr>
            <a:r>
              <a:rPr lang="en-US" sz="1400" dirty="0">
                <a:solidFill>
                  <a:srgbClr val="1F2A37"/>
                </a:solidFill>
                <a:latin typeface="Calibri" pitchFamily="34" charset="0"/>
                <a:ea typeface="Calibri" pitchFamily="34" charset="-122"/>
                <a:cs typeface="Calibri" pitchFamily="34" charset="-120"/>
              </a:rPr>
              <a:t>Laiba Akram · Ali Hasan · Areeba · Bushra Abid</a:t>
            </a:r>
            <a:endParaRPr lang="en-US" sz="1200" dirty="0"/>
          </a:p>
        </p:txBody>
      </p:sp>
      <p:sp>
        <p:nvSpPr>
          <p:cNvPr id="5" name="Text 3"/>
          <p:cNvSpPr txBox="1"/>
          <p:nvPr/>
        </p:nvSpPr>
        <p:spPr>
          <a:xfrm>
            <a:off x="548640" y="3931920"/>
            <a:ext cx="4754880" cy="640080"/>
          </a:xfrm>
          <a:prstGeom prst="rect">
            <a:avLst/>
          </a:prstGeom>
          <a:noFill/>
          <a:ln/>
        </p:spPr>
        <p:txBody>
          <a:bodyPr wrap="square" lIns="0" tIns="0" rIns="0" bIns="0" rtlCol="0" anchor="t"/>
          <a:lstStyle/>
          <a:p>
            <a:pPr indent="0" marL="0">
              <a:buNone/>
            </a:pPr>
            <a:r>
              <a:rPr lang="en-US" sz="1200" i="1" dirty="0">
                <a:solidFill>
                  <a:srgbClr val="5B6773"/>
                </a:solidFill>
                <a:latin typeface="Calibri" pitchFamily="34" charset="0"/>
                <a:ea typeface="Calibri" pitchFamily="34" charset="-122"/>
                <a:cs typeface="Calibri" pitchFamily="34" charset="-120"/>
              </a:rPr>
              <a:t>“Knowing today’s air quality is useful. Knowing what tomorrow may look like is actionable.”</a:t>
            </a:r>
            <a:endParaRPr lang="en-US" sz="1200" dirty="0"/>
          </a:p>
        </p:txBody>
      </p:sp>
      <p:sp>
        <p:nvSpPr>
          <p:cNvPr id="6" name="Sensor map motif"/>
          <p:cNvSpPr/>
          <p:nvPr/>
        </p:nvSpPr>
        <p:spPr>
          <a:xfrm>
            <a:off x="5852160" y="640080"/>
            <a:ext cx="2926080" cy="3840480"/>
          </a:xfrm>
          <a:prstGeom prst="roundRect">
            <a:avLst>
              <a:gd name="adj" fmla="val 3125"/>
            </a:avLst>
          </a:prstGeom>
          <a:solidFill>
            <a:srgbClr val="EAF1F3"/>
          </a:solidFill>
          <a:ln w="9525">
            <a:solidFill>
              <a:srgbClr val="DDE5EA"/>
            </a:solidFill>
            <a:prstDash val="solid"/>
          </a:ln>
        </p:spPr>
      </p:sp>
      <p:sp>
        <p:nvSpPr>
          <p:cNvPr id="7" name="Shape 5"/>
          <p:cNvSpPr/>
          <p:nvPr/>
        </p:nvSpPr>
        <p:spPr>
          <a:xfrm>
            <a:off x="6583680" y="1371600"/>
            <a:ext cx="219456" cy="219456"/>
          </a:xfrm>
          <a:prstGeom prst="ellipse">
            <a:avLst/>
          </a:prstGeom>
          <a:solidFill>
            <a:srgbClr val="3FA66B">
              <a:alpha val="75000"/>
            </a:srgbClr>
          </a:solidFill>
          <a:ln w="6350">
            <a:solidFill>
              <a:srgbClr val="1F8A70"/>
            </a:solidFill>
            <a:prstDash val="solid"/>
          </a:ln>
        </p:spPr>
      </p:sp>
      <p:sp>
        <p:nvSpPr>
          <p:cNvPr id="8" name="Shape 6"/>
          <p:cNvSpPr/>
          <p:nvPr/>
        </p:nvSpPr>
        <p:spPr>
          <a:xfrm>
            <a:off x="7589520" y="1097280"/>
            <a:ext cx="182880" cy="182880"/>
          </a:xfrm>
          <a:prstGeom prst="ellipse">
            <a:avLst/>
          </a:prstGeom>
          <a:solidFill>
            <a:srgbClr val="3FA66B">
              <a:alpha val="75000"/>
            </a:srgbClr>
          </a:solidFill>
          <a:ln w="6350">
            <a:solidFill>
              <a:srgbClr val="1F8A70"/>
            </a:solidFill>
            <a:prstDash val="solid"/>
          </a:ln>
        </p:spPr>
      </p:sp>
      <p:sp>
        <p:nvSpPr>
          <p:cNvPr id="9" name="Shape 7"/>
          <p:cNvSpPr/>
          <p:nvPr/>
        </p:nvSpPr>
        <p:spPr>
          <a:xfrm>
            <a:off x="8138160" y="1828800"/>
            <a:ext cx="182880" cy="182880"/>
          </a:xfrm>
          <a:prstGeom prst="ellipse">
            <a:avLst/>
          </a:prstGeom>
          <a:solidFill>
            <a:srgbClr val="3FA66B">
              <a:alpha val="75000"/>
            </a:srgbClr>
          </a:solidFill>
          <a:ln w="6350">
            <a:solidFill>
              <a:srgbClr val="1F8A70"/>
            </a:solidFill>
            <a:prstDash val="solid"/>
          </a:ln>
        </p:spPr>
      </p:sp>
      <p:sp>
        <p:nvSpPr>
          <p:cNvPr id="10" name="Shape 8"/>
          <p:cNvSpPr/>
          <p:nvPr/>
        </p:nvSpPr>
        <p:spPr>
          <a:xfrm>
            <a:off x="7040880" y="2103120"/>
            <a:ext cx="256032" cy="256032"/>
          </a:xfrm>
          <a:prstGeom prst="ellipse">
            <a:avLst/>
          </a:prstGeom>
          <a:solidFill>
            <a:srgbClr val="3FA66B">
              <a:alpha val="75000"/>
            </a:srgbClr>
          </a:solidFill>
          <a:ln w="6350">
            <a:solidFill>
              <a:srgbClr val="1F8A70"/>
            </a:solidFill>
            <a:prstDash val="solid"/>
          </a:ln>
        </p:spPr>
      </p:sp>
      <p:sp>
        <p:nvSpPr>
          <p:cNvPr id="11" name="Shape 9"/>
          <p:cNvSpPr/>
          <p:nvPr/>
        </p:nvSpPr>
        <p:spPr>
          <a:xfrm>
            <a:off x="7772400" y="2468880"/>
            <a:ext cx="182880" cy="182880"/>
          </a:xfrm>
          <a:prstGeom prst="ellipse">
            <a:avLst/>
          </a:prstGeom>
          <a:solidFill>
            <a:srgbClr val="3FA66B">
              <a:alpha val="75000"/>
            </a:srgbClr>
          </a:solidFill>
          <a:ln w="6350">
            <a:solidFill>
              <a:srgbClr val="1F8A70"/>
            </a:solidFill>
            <a:prstDash val="solid"/>
          </a:ln>
        </p:spPr>
      </p:sp>
      <p:sp>
        <p:nvSpPr>
          <p:cNvPr id="12" name="Shape 10"/>
          <p:cNvSpPr/>
          <p:nvPr/>
        </p:nvSpPr>
        <p:spPr>
          <a:xfrm>
            <a:off x="6400800" y="2560320"/>
            <a:ext cx="182880" cy="182880"/>
          </a:xfrm>
          <a:prstGeom prst="ellipse">
            <a:avLst/>
          </a:prstGeom>
          <a:solidFill>
            <a:srgbClr val="3FA66B">
              <a:alpha val="75000"/>
            </a:srgbClr>
          </a:solidFill>
          <a:ln w="6350">
            <a:solidFill>
              <a:srgbClr val="1F8A70"/>
            </a:solidFill>
            <a:prstDash val="solid"/>
          </a:ln>
        </p:spPr>
      </p:sp>
      <p:sp>
        <p:nvSpPr>
          <p:cNvPr id="13" name="Shape 11"/>
          <p:cNvSpPr/>
          <p:nvPr/>
        </p:nvSpPr>
        <p:spPr>
          <a:xfrm>
            <a:off x="7406640" y="3383280"/>
            <a:ext cx="274320" cy="274320"/>
          </a:xfrm>
          <a:prstGeom prst="ellipse">
            <a:avLst/>
          </a:prstGeom>
          <a:solidFill>
            <a:srgbClr val="E8871E"/>
          </a:solidFill>
          <a:ln w="12700">
            <a:solidFill>
              <a:srgbClr val="FFFFFF"/>
            </a:solidFill>
            <a:prstDash val="solid"/>
          </a:ln>
        </p:spPr>
      </p:sp>
      <p:sp>
        <p:nvSpPr>
          <p:cNvPr id="14" name="Text 12"/>
          <p:cNvSpPr txBox="1"/>
          <p:nvPr/>
        </p:nvSpPr>
        <p:spPr>
          <a:xfrm>
            <a:off x="6035040" y="2971800"/>
            <a:ext cx="2560320" cy="274320"/>
          </a:xfrm>
          <a:prstGeom prst="rect">
            <a:avLst/>
          </a:prstGeom>
          <a:noFill/>
          <a:ln/>
        </p:spPr>
        <p:txBody>
          <a:bodyPr wrap="square" lIns="0" tIns="0" rIns="0" bIns="0" rtlCol="0" anchor="t"/>
          <a:lstStyle/>
          <a:p>
            <a:pPr algn="ctr" indent="0" marL="0">
              <a:buNone/>
            </a:pPr>
            <a:r>
              <a:rPr lang="en-US" sz="1200" b="1" dirty="0">
                <a:solidFill>
                  <a:srgbClr val="1F8A70"/>
                </a:solidFill>
                <a:latin typeface="Calibri" pitchFamily="34" charset="0"/>
                <a:ea typeface="Calibri" pitchFamily="34" charset="-122"/>
                <a:cs typeface="Calibri" pitchFamily="34" charset="-120"/>
              </a:rPr>
              <a:t>Lahore · 26 sensors</a:t>
            </a:r>
            <a:endParaRPr lang="en-US" sz="1200" dirty="0"/>
          </a:p>
        </p:txBody>
      </p:sp>
      <p:sp>
        <p:nvSpPr>
          <p:cNvPr id="15" name="Text 13"/>
          <p:cNvSpPr txBox="1"/>
          <p:nvPr/>
        </p:nvSpPr>
        <p:spPr>
          <a:xfrm>
            <a:off x="6035040" y="3749040"/>
            <a:ext cx="2560320" cy="274320"/>
          </a:xfrm>
          <a:prstGeom prst="rect">
            <a:avLst/>
          </a:prstGeom>
          <a:noFill/>
          <a:ln/>
        </p:spPr>
        <p:txBody>
          <a:bodyPr wrap="square" lIns="0" tIns="0" rIns="0" bIns="0" rtlCol="0" anchor="t"/>
          <a:lstStyle/>
          <a:p>
            <a:pPr algn="ctr" indent="0" marL="0">
              <a:buNone/>
            </a:pPr>
            <a:r>
              <a:rPr lang="en-US" sz="1200" b="1" dirty="0">
                <a:solidFill>
                  <a:srgbClr val="E8871E"/>
                </a:solidFill>
                <a:latin typeface="Calibri" pitchFamily="34" charset="0"/>
                <a:ea typeface="Calibri" pitchFamily="34" charset="-122"/>
                <a:cs typeface="Calibri" pitchFamily="34" charset="-120"/>
              </a:rPr>
              <a:t>Karachi · 4 sensors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F2A37"/>
                </a:solidFill>
                <a:latin typeface="Calibri" pitchFamily="34" charset="0"/>
                <a:ea typeface="Calibri" pitchFamily="34" charset="-122"/>
                <a:cs typeface="Calibri" pitchFamily="34" charset="-120"/>
              </a:rPr>
              <a:t>Air Quality Isn’t Just a Number</a:t>
            </a:r>
            <a:endParaRPr lang="en-US" sz="2400" dirty="0"/>
          </a:p>
        </p:txBody>
      </p:sp>
      <p:sp>
        <p:nvSpPr>
          <p:cNvPr id="4" name="Shape 1"/>
          <p:cNvSpPr/>
          <p:nvPr/>
        </p:nvSpPr>
        <p:spPr>
          <a:xfrm>
            <a:off x="457200" y="1371600"/>
            <a:ext cx="2560320" cy="1554480"/>
          </a:xfrm>
          <a:prstGeom prst="roundRect">
            <a:avLst>
              <a:gd name="adj" fmla="val 5882"/>
            </a:avLst>
          </a:prstGeom>
          <a:solidFill>
            <a:srgbClr val="E3F2EE"/>
          </a:solidFill>
          <a:ln w="9525">
            <a:solidFill>
              <a:srgbClr val="1F8A70"/>
            </a:solidFill>
            <a:prstDash val="solid"/>
          </a:ln>
        </p:spPr>
      </p:sp>
      <p:sp>
        <p:nvSpPr>
          <p:cNvPr id="5" name="Text 2"/>
          <p:cNvSpPr txBox="1"/>
          <p:nvPr/>
        </p:nvSpPr>
        <p:spPr>
          <a:xfrm>
            <a:off x="530352" y="1444752"/>
            <a:ext cx="2414016" cy="1408176"/>
          </a:xfrm>
          <a:prstGeom prst="rect">
            <a:avLst/>
          </a:prstGeom>
          <a:noFill/>
          <a:ln/>
        </p:spPr>
        <p:txBody>
          <a:bodyPr wrap="square" lIns="0" tIns="0" rIns="0" bIns="0" rtlCol="0" anchor="ctr"/>
          <a:lstStyle/>
          <a:p>
            <a:pPr algn="ctr" indent="0" marL="0">
              <a:buNone/>
            </a:pPr>
            <a:r>
              <a:rPr lang="en-US" sz="1500" b="1" dirty="0">
                <a:solidFill>
                  <a:srgbClr val="1F8A70"/>
                </a:solidFill>
                <a:latin typeface="Calibri" pitchFamily="34" charset="0"/>
                <a:ea typeface="Calibri" pitchFamily="34" charset="-122"/>
                <a:cs typeface="Calibri" pitchFamily="34" charset="-120"/>
              </a:rPr>
              <a:t>CURRENT</a:t>
            </a:r>
            <a:endParaRPr lang="en-US" sz="1500" dirty="0"/>
          </a:p>
          <a:p>
            <a:pPr algn="ctr" indent="0" marL="0">
              <a:buNone/>
            </a:pPr>
            <a:r>
              <a:rPr lang="en-US" sz="1500" b="1" dirty="0">
                <a:solidFill>
                  <a:srgbClr val="1F8A70"/>
                </a:solidFill>
                <a:latin typeface="Calibri" pitchFamily="34" charset="0"/>
                <a:ea typeface="Calibri" pitchFamily="34" charset="-122"/>
                <a:cs typeface="Calibri" pitchFamily="34" charset="-120"/>
              </a:rPr>
              <a:t>What is happening now?</a:t>
            </a:r>
            <a:endParaRPr lang="en-US" sz="1500" dirty="0"/>
          </a:p>
        </p:txBody>
      </p:sp>
      <p:sp>
        <p:nvSpPr>
          <p:cNvPr id="6" name="Text 3"/>
          <p:cNvSpPr txBox="1"/>
          <p:nvPr/>
        </p:nvSpPr>
        <p:spPr>
          <a:xfrm>
            <a:off x="3017520" y="1371600"/>
            <a:ext cx="274320" cy="15544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7" name="Shape 4"/>
          <p:cNvSpPr/>
          <p:nvPr/>
        </p:nvSpPr>
        <p:spPr>
          <a:xfrm>
            <a:off x="3291840" y="1371600"/>
            <a:ext cx="2560320" cy="1554480"/>
          </a:xfrm>
          <a:prstGeom prst="roundRect">
            <a:avLst>
              <a:gd name="adj" fmla="val 5882"/>
            </a:avLst>
          </a:prstGeom>
          <a:solidFill>
            <a:srgbClr val="FFF1DF"/>
          </a:solidFill>
          <a:ln w="9525">
            <a:solidFill>
              <a:srgbClr val="E8871E"/>
            </a:solidFill>
            <a:prstDash val="solid"/>
          </a:ln>
        </p:spPr>
      </p:sp>
      <p:sp>
        <p:nvSpPr>
          <p:cNvPr id="8" name="Text 5"/>
          <p:cNvSpPr txBox="1"/>
          <p:nvPr/>
        </p:nvSpPr>
        <p:spPr>
          <a:xfrm>
            <a:off x="3364992" y="1444752"/>
            <a:ext cx="2414016" cy="1408176"/>
          </a:xfrm>
          <a:prstGeom prst="rect">
            <a:avLst/>
          </a:prstGeom>
          <a:noFill/>
          <a:ln/>
        </p:spPr>
        <p:txBody>
          <a:bodyPr wrap="square" lIns="0" tIns="0" rIns="0" bIns="0" rtlCol="0" anchor="ctr"/>
          <a:lstStyle/>
          <a:p>
            <a:pPr algn="ctr" indent="0" marL="0">
              <a:buNone/>
            </a:pPr>
            <a:r>
              <a:rPr lang="en-US" sz="1500" b="1" dirty="0">
                <a:solidFill>
                  <a:srgbClr val="E8871E"/>
                </a:solidFill>
                <a:latin typeface="Calibri" pitchFamily="34" charset="0"/>
                <a:ea typeface="Calibri" pitchFamily="34" charset="-122"/>
                <a:cs typeface="Calibri" pitchFamily="34" charset="-120"/>
              </a:rPr>
              <a:t>TOMORROW</a:t>
            </a:r>
            <a:endParaRPr lang="en-US" sz="1500" dirty="0"/>
          </a:p>
          <a:p>
            <a:pPr algn="ctr" indent="0" marL="0">
              <a:buNone/>
            </a:pPr>
            <a:r>
              <a:rPr lang="en-US" sz="1500" b="1" dirty="0">
                <a:solidFill>
                  <a:srgbClr val="E8871E"/>
                </a:solidFill>
                <a:latin typeface="Calibri" pitchFamily="34" charset="0"/>
                <a:ea typeface="Calibri" pitchFamily="34" charset="-122"/>
                <a:cs typeface="Calibri" pitchFamily="34" charset="-120"/>
              </a:rPr>
              <a:t>What happens next?</a:t>
            </a:r>
            <a:endParaRPr lang="en-US" sz="1500" dirty="0"/>
          </a:p>
          <a:p>
            <a:pPr algn="ctr" indent="0" marL="0">
              <a:buNone/>
            </a:pPr>
            <a:r>
              <a:rPr lang="en-US" sz="1500" b="1" dirty="0">
                <a:solidFill>
                  <a:srgbClr val="E8871E"/>
                </a:solidFill>
                <a:latin typeface="Calibri" pitchFamily="34" charset="0"/>
                <a:ea typeface="Calibri" pitchFamily="34" charset="-122"/>
                <a:cs typeface="Calibri" pitchFamily="34" charset="-120"/>
              </a:rPr>
              <a:t>How certain are we?</a:t>
            </a:r>
            <a:endParaRPr lang="en-US" sz="1500" dirty="0"/>
          </a:p>
        </p:txBody>
      </p:sp>
      <p:sp>
        <p:nvSpPr>
          <p:cNvPr id="9" name="Text 6"/>
          <p:cNvSpPr txBox="1"/>
          <p:nvPr/>
        </p:nvSpPr>
        <p:spPr>
          <a:xfrm>
            <a:off x="5852160" y="1371600"/>
            <a:ext cx="274320" cy="15544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6126480" y="1371600"/>
            <a:ext cx="2560320" cy="1554480"/>
          </a:xfrm>
          <a:prstGeom prst="roundRect">
            <a:avLst>
              <a:gd name="adj" fmla="val 5882"/>
            </a:avLst>
          </a:prstGeom>
          <a:solidFill>
            <a:srgbClr val="FFFFFF"/>
          </a:solidFill>
          <a:ln w="9525">
            <a:solidFill>
              <a:srgbClr val="1F2A37"/>
            </a:solidFill>
            <a:prstDash val="solid"/>
          </a:ln>
        </p:spPr>
      </p:sp>
      <p:sp>
        <p:nvSpPr>
          <p:cNvPr id="11" name="Text 8"/>
          <p:cNvSpPr txBox="1"/>
          <p:nvPr/>
        </p:nvSpPr>
        <p:spPr>
          <a:xfrm>
            <a:off x="6199632" y="1444752"/>
            <a:ext cx="2414016" cy="1408176"/>
          </a:xfrm>
          <a:prstGeom prst="rect">
            <a:avLst/>
          </a:prstGeom>
          <a:noFill/>
          <a:ln/>
        </p:spPr>
        <p:txBody>
          <a:bodyPr wrap="square" lIns="0" tIns="0" rIns="0" bIns="0" rtlCol="0" anchor="ctr"/>
          <a:lstStyle/>
          <a:p>
            <a:pPr algn="ctr" indent="0" marL="0">
              <a:buNone/>
            </a:pPr>
            <a:r>
              <a:rPr lang="en-US" sz="1500" b="1" dirty="0">
                <a:solidFill>
                  <a:srgbClr val="1F2A37"/>
                </a:solidFill>
                <a:latin typeface="Calibri" pitchFamily="34" charset="0"/>
                <a:ea typeface="Calibri" pitchFamily="34" charset="-122"/>
                <a:cs typeface="Calibri" pitchFamily="34" charset="-120"/>
              </a:rPr>
              <a:t>DECISION</a:t>
            </a:r>
            <a:endParaRPr lang="en-US" sz="1500" dirty="0"/>
          </a:p>
          <a:p>
            <a:pPr algn="ctr" indent="0" marL="0">
              <a:buNone/>
            </a:pPr>
            <a:r>
              <a:rPr lang="en-US" sz="1500" b="1" dirty="0">
                <a:solidFill>
                  <a:srgbClr val="1F2A37"/>
                </a:solidFill>
                <a:latin typeface="Calibri" pitchFamily="34" charset="0"/>
                <a:ea typeface="Calibri" pitchFamily="34" charset="-122"/>
                <a:cs typeface="Calibri" pitchFamily="34" charset="-120"/>
              </a:rPr>
              <a:t>What should I do?</a:t>
            </a:r>
            <a:endParaRPr lang="en-US" sz="1500" dirty="0"/>
          </a:p>
        </p:txBody>
      </p:sp>
      <p:sp>
        <p:nvSpPr>
          <p:cNvPr id="12" name="Shape 9"/>
          <p:cNvSpPr/>
          <p:nvPr/>
        </p:nvSpPr>
        <p:spPr>
          <a:xfrm>
            <a:off x="457200" y="3383280"/>
            <a:ext cx="8229600" cy="822960"/>
          </a:xfrm>
          <a:prstGeom prst="roundRect">
            <a:avLst>
              <a:gd name="adj" fmla="val 11111"/>
            </a:avLst>
          </a:prstGeom>
          <a:solidFill>
            <a:srgbClr val="FFFFFF"/>
          </a:solidFill>
          <a:ln w="9525">
            <a:solidFill>
              <a:srgbClr val="DDE5EA"/>
            </a:solidFill>
            <a:prstDash val="solid"/>
          </a:ln>
        </p:spPr>
      </p:sp>
      <p:sp>
        <p:nvSpPr>
          <p:cNvPr id="13" name="Text 10"/>
          <p:cNvSpPr txBox="1"/>
          <p:nvPr/>
        </p:nvSpPr>
        <p:spPr>
          <a:xfrm>
            <a:off x="731520" y="3383280"/>
            <a:ext cx="7680960" cy="822960"/>
          </a:xfrm>
          <a:prstGeom prst="rect">
            <a:avLst/>
          </a:prstGeom>
          <a:noFill/>
          <a:ln/>
        </p:spPr>
        <p:txBody>
          <a:bodyPr wrap="square" lIns="0" tIns="0" rIns="0" bIns="0" rtlCol="0" anchor="ctr"/>
          <a:lstStyle/>
          <a:p>
            <a:pPr indent="0" marL="0">
              <a:buNone/>
            </a:pPr>
            <a:r>
              <a:rPr lang="en-US" sz="1400" dirty="0">
                <a:solidFill>
                  <a:srgbClr val="5B6773"/>
                </a:solidFill>
                <a:latin typeface="Calibri" pitchFamily="34" charset="0"/>
                <a:ea typeface="Calibri" pitchFamily="34" charset="-122"/>
                <a:cs typeface="Calibri" pitchFamily="34" charset="-120"/>
              </a:rPr>
              <a:t>Fresh sensor data isn’t always available. We make data freshness visible instead of hiding it.</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F2A37"/>
                </a:solidFill>
                <a:latin typeface="Calibri" pitchFamily="34" charset="0"/>
                <a:ea typeface="Calibri" pitchFamily="34" charset="-122"/>
                <a:cs typeface="Calibri" pitchFamily="34" charset="-120"/>
              </a:rPr>
              <a:t>From Data to Decisions</a:t>
            </a:r>
            <a:endParaRPr lang="en-US" sz="2400" dirty="0"/>
          </a:p>
        </p:txBody>
      </p:sp>
      <p:sp>
        <p:nvSpPr>
          <p:cNvPr id="4" name="Shape 1"/>
          <p:cNvSpPr/>
          <p:nvPr/>
        </p:nvSpPr>
        <p:spPr>
          <a:xfrm>
            <a:off x="457200" y="1371600"/>
            <a:ext cx="1426464" cy="1097280"/>
          </a:xfrm>
          <a:prstGeom prst="roundRect">
            <a:avLst>
              <a:gd name="adj" fmla="val 8333"/>
            </a:avLst>
          </a:prstGeom>
          <a:solidFill>
            <a:srgbClr val="E3F2EE"/>
          </a:solidFill>
          <a:ln w="9525">
            <a:solidFill>
              <a:srgbClr val="1F8A70"/>
            </a:solidFill>
            <a:prstDash val="solid"/>
          </a:ln>
        </p:spPr>
      </p:sp>
      <p:sp>
        <p:nvSpPr>
          <p:cNvPr id="5" name="Text 2"/>
          <p:cNvSpPr txBox="1"/>
          <p:nvPr/>
        </p:nvSpPr>
        <p:spPr>
          <a:xfrm>
            <a:off x="530352" y="1444752"/>
            <a:ext cx="1280160" cy="950976"/>
          </a:xfrm>
          <a:prstGeom prst="rect">
            <a:avLst/>
          </a:prstGeom>
          <a:noFill/>
          <a:ln/>
        </p:spPr>
        <p:txBody>
          <a:bodyPr wrap="square" lIns="0" tIns="0" rIns="0" bIns="0" rtlCol="0" anchor="ctr"/>
          <a:lstStyle/>
          <a:p>
            <a:pPr algn="ctr" indent="0" marL="0">
              <a:buNone/>
            </a:pPr>
            <a:r>
              <a:rPr lang="en-US" sz="1500" b="1" dirty="0">
                <a:solidFill>
                  <a:srgbClr val="1F8A70"/>
                </a:solidFill>
                <a:latin typeface="Calibri" pitchFamily="34" charset="0"/>
                <a:ea typeface="Calibri" pitchFamily="34" charset="-122"/>
                <a:cs typeface="Calibri" pitchFamily="34" charset="-120"/>
              </a:rPr>
              <a:t>DATA</a:t>
            </a:r>
            <a:endParaRPr lang="en-US" sz="1500" dirty="0"/>
          </a:p>
        </p:txBody>
      </p:sp>
      <p:sp>
        <p:nvSpPr>
          <p:cNvPr id="6" name="Text 3"/>
          <p:cNvSpPr txBox="1"/>
          <p:nvPr/>
        </p:nvSpPr>
        <p:spPr>
          <a:xfrm>
            <a:off x="1883664" y="1371600"/>
            <a:ext cx="274320" cy="10972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7" name="Shape 4"/>
          <p:cNvSpPr/>
          <p:nvPr/>
        </p:nvSpPr>
        <p:spPr>
          <a:xfrm>
            <a:off x="2157984" y="1371600"/>
            <a:ext cx="1426464" cy="1097280"/>
          </a:xfrm>
          <a:prstGeom prst="roundRect">
            <a:avLst>
              <a:gd name="adj" fmla="val 8333"/>
            </a:avLst>
          </a:prstGeom>
          <a:solidFill>
            <a:srgbClr val="E3F2EE"/>
          </a:solidFill>
          <a:ln w="9525">
            <a:solidFill>
              <a:srgbClr val="1F8A70"/>
            </a:solidFill>
            <a:prstDash val="solid"/>
          </a:ln>
        </p:spPr>
      </p:sp>
      <p:sp>
        <p:nvSpPr>
          <p:cNvPr id="8" name="Text 5"/>
          <p:cNvSpPr txBox="1"/>
          <p:nvPr/>
        </p:nvSpPr>
        <p:spPr>
          <a:xfrm>
            <a:off x="2231136" y="1444752"/>
            <a:ext cx="1280160" cy="950976"/>
          </a:xfrm>
          <a:prstGeom prst="rect">
            <a:avLst/>
          </a:prstGeom>
          <a:noFill/>
          <a:ln/>
        </p:spPr>
        <p:txBody>
          <a:bodyPr wrap="square" lIns="0" tIns="0" rIns="0" bIns="0" rtlCol="0" anchor="ctr"/>
          <a:lstStyle/>
          <a:p>
            <a:pPr algn="ctr" indent="0" marL="0">
              <a:buNone/>
            </a:pPr>
            <a:r>
              <a:rPr lang="en-US" sz="1500" b="1" dirty="0">
                <a:solidFill>
                  <a:srgbClr val="1F8A70"/>
                </a:solidFill>
                <a:latin typeface="Calibri" pitchFamily="34" charset="0"/>
                <a:ea typeface="Calibri" pitchFamily="34" charset="-122"/>
                <a:cs typeface="Calibri" pitchFamily="34" charset="-120"/>
              </a:rPr>
              <a:t>TRUST</a:t>
            </a:r>
            <a:endParaRPr lang="en-US" sz="1500" dirty="0"/>
          </a:p>
        </p:txBody>
      </p:sp>
      <p:sp>
        <p:nvSpPr>
          <p:cNvPr id="9" name="Text 6"/>
          <p:cNvSpPr txBox="1"/>
          <p:nvPr/>
        </p:nvSpPr>
        <p:spPr>
          <a:xfrm>
            <a:off x="3584448" y="1371600"/>
            <a:ext cx="274320" cy="10972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3858768" y="1371600"/>
            <a:ext cx="1426464" cy="1097280"/>
          </a:xfrm>
          <a:prstGeom prst="roundRect">
            <a:avLst>
              <a:gd name="adj" fmla="val 8333"/>
            </a:avLst>
          </a:prstGeom>
          <a:solidFill>
            <a:srgbClr val="FFF1DF"/>
          </a:solidFill>
          <a:ln w="9525">
            <a:solidFill>
              <a:srgbClr val="E8871E"/>
            </a:solidFill>
            <a:prstDash val="solid"/>
          </a:ln>
        </p:spPr>
      </p:sp>
      <p:sp>
        <p:nvSpPr>
          <p:cNvPr id="11" name="Text 8"/>
          <p:cNvSpPr txBox="1"/>
          <p:nvPr/>
        </p:nvSpPr>
        <p:spPr>
          <a:xfrm>
            <a:off x="3931920" y="1444752"/>
            <a:ext cx="1280160" cy="950976"/>
          </a:xfrm>
          <a:prstGeom prst="rect">
            <a:avLst/>
          </a:prstGeom>
          <a:noFill/>
          <a:ln/>
        </p:spPr>
        <p:txBody>
          <a:bodyPr wrap="square" lIns="0" tIns="0" rIns="0" bIns="0" rtlCol="0" anchor="ctr"/>
          <a:lstStyle/>
          <a:p>
            <a:pPr algn="ctr" indent="0" marL="0">
              <a:buNone/>
            </a:pPr>
            <a:r>
              <a:rPr lang="en-US" sz="1500" b="1" dirty="0">
                <a:solidFill>
                  <a:srgbClr val="E8871E"/>
                </a:solidFill>
                <a:latin typeface="Calibri" pitchFamily="34" charset="0"/>
                <a:ea typeface="Calibri" pitchFamily="34" charset="-122"/>
                <a:cs typeface="Calibri" pitchFamily="34" charset="-120"/>
              </a:rPr>
              <a:t>PREDICT</a:t>
            </a:r>
            <a:endParaRPr lang="en-US" sz="1500" dirty="0"/>
          </a:p>
        </p:txBody>
      </p:sp>
      <p:sp>
        <p:nvSpPr>
          <p:cNvPr id="12" name="Text 9"/>
          <p:cNvSpPr txBox="1"/>
          <p:nvPr/>
        </p:nvSpPr>
        <p:spPr>
          <a:xfrm>
            <a:off x="5285232" y="1371600"/>
            <a:ext cx="274320" cy="10972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3" name="Shape 10"/>
          <p:cNvSpPr/>
          <p:nvPr/>
        </p:nvSpPr>
        <p:spPr>
          <a:xfrm>
            <a:off x="5559552" y="1371600"/>
            <a:ext cx="1426464" cy="1097280"/>
          </a:xfrm>
          <a:prstGeom prst="roundRect">
            <a:avLst>
              <a:gd name="adj" fmla="val 8333"/>
            </a:avLst>
          </a:prstGeom>
          <a:solidFill>
            <a:srgbClr val="FFF1DF"/>
          </a:solidFill>
          <a:ln w="9525">
            <a:solidFill>
              <a:srgbClr val="E8871E"/>
            </a:solidFill>
            <a:prstDash val="solid"/>
          </a:ln>
        </p:spPr>
      </p:sp>
      <p:sp>
        <p:nvSpPr>
          <p:cNvPr id="14" name="Text 11"/>
          <p:cNvSpPr txBox="1"/>
          <p:nvPr/>
        </p:nvSpPr>
        <p:spPr>
          <a:xfrm>
            <a:off x="5632704" y="1444752"/>
            <a:ext cx="1280160" cy="950976"/>
          </a:xfrm>
          <a:prstGeom prst="rect">
            <a:avLst/>
          </a:prstGeom>
          <a:noFill/>
          <a:ln/>
        </p:spPr>
        <p:txBody>
          <a:bodyPr wrap="square" lIns="0" tIns="0" rIns="0" bIns="0" rtlCol="0" anchor="ctr"/>
          <a:lstStyle/>
          <a:p>
            <a:pPr algn="ctr" indent="0" marL="0">
              <a:buNone/>
            </a:pPr>
            <a:r>
              <a:rPr lang="en-US" sz="1500" b="1" dirty="0">
                <a:solidFill>
                  <a:srgbClr val="E8871E"/>
                </a:solidFill>
                <a:latin typeface="Calibri" pitchFamily="34" charset="0"/>
                <a:ea typeface="Calibri" pitchFamily="34" charset="-122"/>
                <a:cs typeface="Calibri" pitchFamily="34" charset="-120"/>
              </a:rPr>
              <a:t>EXPLAIN</a:t>
            </a:r>
            <a:endParaRPr lang="en-US" sz="1500" dirty="0"/>
          </a:p>
        </p:txBody>
      </p:sp>
      <p:sp>
        <p:nvSpPr>
          <p:cNvPr id="15" name="Text 12"/>
          <p:cNvSpPr txBox="1"/>
          <p:nvPr/>
        </p:nvSpPr>
        <p:spPr>
          <a:xfrm>
            <a:off x="6986016" y="1371600"/>
            <a:ext cx="274320" cy="10972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6" name="Shape 13"/>
          <p:cNvSpPr/>
          <p:nvPr/>
        </p:nvSpPr>
        <p:spPr>
          <a:xfrm>
            <a:off x="7260336" y="1371600"/>
            <a:ext cx="1426464" cy="1097280"/>
          </a:xfrm>
          <a:prstGeom prst="roundRect">
            <a:avLst>
              <a:gd name="adj" fmla="val 8333"/>
            </a:avLst>
          </a:prstGeom>
          <a:solidFill>
            <a:srgbClr val="FFFFFF"/>
          </a:solidFill>
          <a:ln w="9525">
            <a:solidFill>
              <a:srgbClr val="D64545"/>
            </a:solidFill>
            <a:prstDash val="solid"/>
          </a:ln>
        </p:spPr>
      </p:sp>
      <p:sp>
        <p:nvSpPr>
          <p:cNvPr id="17" name="Text 14"/>
          <p:cNvSpPr txBox="1"/>
          <p:nvPr/>
        </p:nvSpPr>
        <p:spPr>
          <a:xfrm>
            <a:off x="7333488" y="1444752"/>
            <a:ext cx="1280160" cy="950976"/>
          </a:xfrm>
          <a:prstGeom prst="rect">
            <a:avLst/>
          </a:prstGeom>
          <a:noFill/>
          <a:ln/>
        </p:spPr>
        <p:txBody>
          <a:bodyPr wrap="square" lIns="0" tIns="0" rIns="0" bIns="0" rtlCol="0" anchor="ctr"/>
          <a:lstStyle/>
          <a:p>
            <a:pPr algn="ctr" indent="0" marL="0">
              <a:buNone/>
            </a:pPr>
            <a:r>
              <a:rPr lang="en-US" sz="1500" b="1" dirty="0">
                <a:solidFill>
                  <a:srgbClr val="D64545"/>
                </a:solidFill>
                <a:latin typeface="Calibri" pitchFamily="34" charset="0"/>
                <a:ea typeface="Calibri" pitchFamily="34" charset="-122"/>
                <a:cs typeface="Calibri" pitchFamily="34" charset="-120"/>
              </a:rPr>
              <a:t>ACT</a:t>
            </a:r>
            <a:endParaRPr lang="en-US" sz="1500" dirty="0"/>
          </a:p>
        </p:txBody>
      </p:sp>
      <p:sp>
        <p:nvSpPr>
          <p:cNvPr id="18" name="Text 15"/>
          <p:cNvSpPr txBox="1"/>
          <p:nvPr/>
        </p:nvSpPr>
        <p:spPr>
          <a:xfrm>
            <a:off x="457200" y="2651760"/>
            <a:ext cx="1371600" cy="548640"/>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Ground sensors + weather</a:t>
            </a:r>
            <a:endParaRPr lang="en-US" sz="1100" dirty="0"/>
          </a:p>
        </p:txBody>
      </p:sp>
      <p:sp>
        <p:nvSpPr>
          <p:cNvPr id="19" name="Text 16"/>
          <p:cNvSpPr txBox="1"/>
          <p:nvPr/>
        </p:nvSpPr>
        <p:spPr>
          <a:xfrm>
            <a:off x="2157984" y="2651760"/>
            <a:ext cx="1371600" cy="548640"/>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Validated by an agent</a:t>
            </a:r>
            <a:endParaRPr lang="en-US" sz="1100" dirty="0"/>
          </a:p>
        </p:txBody>
      </p:sp>
      <p:sp>
        <p:nvSpPr>
          <p:cNvPr id="20" name="Text 17"/>
          <p:cNvSpPr txBox="1"/>
          <p:nvPr/>
        </p:nvSpPr>
        <p:spPr>
          <a:xfrm>
            <a:off x="3858768" y="2651760"/>
            <a:ext cx="1371600" cy="548640"/>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24-hour PM2.5 forecast</a:t>
            </a:r>
            <a:endParaRPr lang="en-US" sz="1100" dirty="0"/>
          </a:p>
        </p:txBody>
      </p:sp>
      <p:sp>
        <p:nvSpPr>
          <p:cNvPr id="21" name="Text 18"/>
          <p:cNvSpPr txBox="1"/>
          <p:nvPr/>
        </p:nvSpPr>
        <p:spPr>
          <a:xfrm>
            <a:off x="5559552" y="2651760"/>
            <a:ext cx="1371600" cy="548640"/>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Uncertainty + assistant</a:t>
            </a:r>
            <a:endParaRPr lang="en-US" sz="1100" dirty="0"/>
          </a:p>
        </p:txBody>
      </p:sp>
      <p:sp>
        <p:nvSpPr>
          <p:cNvPr id="22" name="Text 19"/>
          <p:cNvSpPr txBox="1"/>
          <p:nvPr/>
        </p:nvSpPr>
        <p:spPr>
          <a:xfrm>
            <a:off x="7260336" y="2651760"/>
            <a:ext cx="1371600" cy="548640"/>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Mask · exercise · outdoor</a:t>
            </a:r>
            <a:endParaRPr lang="en-US" sz="1100" dirty="0"/>
          </a:p>
        </p:txBody>
      </p:sp>
      <p:sp>
        <p:nvSpPr>
          <p:cNvPr id="23" name="Text 20"/>
          <p:cNvSpPr txBox="1"/>
          <p:nvPr/>
        </p:nvSpPr>
        <p:spPr>
          <a:xfrm>
            <a:off x="457200" y="3840480"/>
            <a:ext cx="8229600" cy="365760"/>
          </a:xfrm>
          <a:prstGeom prst="rect">
            <a:avLst/>
          </a:prstGeom>
          <a:noFill/>
          <a:ln/>
        </p:spPr>
        <p:txBody>
          <a:bodyPr wrap="square" lIns="0" tIns="0" rIns="0" bIns="0" rtlCol="0" anchor="t"/>
          <a:lstStyle/>
          <a:p>
            <a:pPr algn="ctr" indent="0" marL="0">
              <a:buNone/>
            </a:pPr>
            <a:r>
              <a:rPr lang="en-US" sz="1100" b="1" dirty="0">
                <a:solidFill>
                  <a:srgbClr val="1F8A70"/>
                </a:solidFill>
                <a:latin typeface="Calibri" pitchFamily="34" charset="0"/>
                <a:ea typeface="Calibri" pitchFamily="34" charset="-122"/>
                <a:cs typeface="Calibri" pitchFamily="34" charset="-120"/>
              </a:rPr>
              <a:t>REAL PROBLEM → TRUSTWORTHY DATA → PREDICTION → UNCERTAINTY → AI DECISION SUPPORT → ACTION</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F2A37"/>
                </a:solidFill>
                <a:latin typeface="Calibri" pitchFamily="34" charset="0"/>
                <a:ea typeface="Calibri" pitchFamily="34" charset="-122"/>
                <a:cs typeface="Calibri" pitchFamily="34" charset="-120"/>
              </a:rPr>
              <a:t>Built on Real Environmental Data</a:t>
            </a:r>
            <a:endParaRPr lang="en-US" sz="2400" dirty="0"/>
          </a:p>
        </p:txBody>
      </p:sp>
      <p:sp>
        <p:nvSpPr>
          <p:cNvPr id="4" name="Shape 1"/>
          <p:cNvSpPr/>
          <p:nvPr/>
        </p:nvSpPr>
        <p:spPr>
          <a:xfrm>
            <a:off x="457200" y="1097280"/>
            <a:ext cx="2560320" cy="1188720"/>
          </a:xfrm>
          <a:prstGeom prst="roundRect">
            <a:avLst>
              <a:gd name="adj" fmla="val 7692"/>
            </a:avLst>
          </a:prstGeom>
          <a:solidFill>
            <a:srgbClr val="FFFFFF"/>
          </a:solidFill>
          <a:ln w="9525">
            <a:solidFill>
              <a:srgbClr val="1F8A70"/>
            </a:solidFill>
            <a:prstDash val="solid"/>
          </a:ln>
        </p:spPr>
      </p:sp>
      <p:sp>
        <p:nvSpPr>
          <p:cNvPr id="5" name="Text 2"/>
          <p:cNvSpPr txBox="1"/>
          <p:nvPr/>
        </p:nvSpPr>
        <p:spPr>
          <a:xfrm>
            <a:off x="457200" y="1188720"/>
            <a:ext cx="2560320" cy="653796"/>
          </a:xfrm>
          <a:prstGeom prst="rect">
            <a:avLst/>
          </a:prstGeom>
          <a:noFill/>
          <a:ln/>
        </p:spPr>
        <p:txBody>
          <a:bodyPr wrap="square" lIns="0" tIns="0" rIns="0" bIns="0" rtlCol="0" anchor="ctr"/>
          <a:lstStyle/>
          <a:p>
            <a:pPr algn="ctr" indent="0" marL="0">
              <a:buNone/>
            </a:pPr>
            <a:r>
              <a:rPr lang="en-US" sz="3000" b="1" dirty="0">
                <a:solidFill>
                  <a:srgbClr val="1F8A70"/>
                </a:solidFill>
                <a:latin typeface="Calibri" pitchFamily="34" charset="0"/>
                <a:ea typeface="Calibri" pitchFamily="34" charset="-122"/>
                <a:cs typeface="Calibri" pitchFamily="34" charset="-120"/>
              </a:rPr>
              <a:t>176K+</a:t>
            </a:r>
            <a:endParaRPr lang="en-US" sz="3000" dirty="0"/>
          </a:p>
        </p:txBody>
      </p:sp>
      <p:sp>
        <p:nvSpPr>
          <p:cNvPr id="6" name="Text 3"/>
          <p:cNvSpPr txBox="1"/>
          <p:nvPr/>
        </p:nvSpPr>
        <p:spPr>
          <a:xfrm>
            <a:off x="548640" y="1834286"/>
            <a:ext cx="2377440" cy="404165"/>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records</a:t>
            </a:r>
            <a:endParaRPr lang="en-US" sz="1100" dirty="0"/>
          </a:p>
        </p:txBody>
      </p:sp>
      <p:sp>
        <p:nvSpPr>
          <p:cNvPr id="7" name="Shape 4"/>
          <p:cNvSpPr/>
          <p:nvPr/>
        </p:nvSpPr>
        <p:spPr>
          <a:xfrm>
            <a:off x="3291840" y="1097280"/>
            <a:ext cx="2560320" cy="1188720"/>
          </a:xfrm>
          <a:prstGeom prst="roundRect">
            <a:avLst>
              <a:gd name="adj" fmla="val 7692"/>
            </a:avLst>
          </a:prstGeom>
          <a:solidFill>
            <a:srgbClr val="FFFFFF"/>
          </a:solidFill>
          <a:ln w="9525">
            <a:solidFill>
              <a:srgbClr val="3FA66B"/>
            </a:solidFill>
            <a:prstDash val="solid"/>
          </a:ln>
        </p:spPr>
      </p:sp>
      <p:sp>
        <p:nvSpPr>
          <p:cNvPr id="8" name="Text 5"/>
          <p:cNvSpPr txBox="1"/>
          <p:nvPr/>
        </p:nvSpPr>
        <p:spPr>
          <a:xfrm>
            <a:off x="3291840" y="1188720"/>
            <a:ext cx="2560320" cy="653796"/>
          </a:xfrm>
          <a:prstGeom prst="rect">
            <a:avLst/>
          </a:prstGeom>
          <a:noFill/>
          <a:ln/>
        </p:spPr>
        <p:txBody>
          <a:bodyPr wrap="square" lIns="0" tIns="0" rIns="0" bIns="0" rtlCol="0" anchor="ctr"/>
          <a:lstStyle/>
          <a:p>
            <a:pPr algn="ctr" indent="0" marL="0">
              <a:buNone/>
            </a:pPr>
            <a:r>
              <a:rPr lang="en-US" sz="3000" b="1" dirty="0">
                <a:solidFill>
                  <a:srgbClr val="3FA66B"/>
                </a:solidFill>
                <a:latin typeface="Calibri" pitchFamily="34" charset="0"/>
                <a:ea typeface="Calibri" pitchFamily="34" charset="-122"/>
                <a:cs typeface="Calibri" pitchFamily="34" charset="-120"/>
              </a:rPr>
              <a:t>30</a:t>
            </a:r>
            <a:endParaRPr lang="en-US" sz="3000" dirty="0"/>
          </a:p>
        </p:txBody>
      </p:sp>
      <p:sp>
        <p:nvSpPr>
          <p:cNvPr id="9" name="Text 6"/>
          <p:cNvSpPr txBox="1"/>
          <p:nvPr/>
        </p:nvSpPr>
        <p:spPr>
          <a:xfrm>
            <a:off x="3383280" y="1834286"/>
            <a:ext cx="2377440" cy="404165"/>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sensors</a:t>
            </a:r>
            <a:endParaRPr lang="en-US" sz="1100" dirty="0"/>
          </a:p>
        </p:txBody>
      </p:sp>
      <p:sp>
        <p:nvSpPr>
          <p:cNvPr id="10" name="Shape 7"/>
          <p:cNvSpPr/>
          <p:nvPr/>
        </p:nvSpPr>
        <p:spPr>
          <a:xfrm>
            <a:off x="6126480" y="1097280"/>
            <a:ext cx="2560320" cy="1188720"/>
          </a:xfrm>
          <a:prstGeom prst="roundRect">
            <a:avLst>
              <a:gd name="adj" fmla="val 7692"/>
            </a:avLst>
          </a:prstGeom>
          <a:solidFill>
            <a:srgbClr val="FFFFFF"/>
          </a:solidFill>
          <a:ln w="9525">
            <a:solidFill>
              <a:srgbClr val="E8871E"/>
            </a:solidFill>
            <a:prstDash val="solid"/>
          </a:ln>
        </p:spPr>
      </p:sp>
      <p:sp>
        <p:nvSpPr>
          <p:cNvPr id="11" name="Text 8"/>
          <p:cNvSpPr txBox="1"/>
          <p:nvPr/>
        </p:nvSpPr>
        <p:spPr>
          <a:xfrm>
            <a:off x="6126480" y="1188720"/>
            <a:ext cx="2560320" cy="653796"/>
          </a:xfrm>
          <a:prstGeom prst="rect">
            <a:avLst/>
          </a:prstGeom>
          <a:noFill/>
          <a:ln/>
        </p:spPr>
        <p:txBody>
          <a:bodyPr wrap="square" lIns="0" tIns="0" rIns="0" bIns="0" rtlCol="0" anchor="ctr"/>
          <a:lstStyle/>
          <a:p>
            <a:pPr algn="ctr" indent="0" marL="0">
              <a:buNone/>
            </a:pPr>
            <a:r>
              <a:rPr lang="en-US" sz="3000" b="1" dirty="0">
                <a:solidFill>
                  <a:srgbClr val="E8871E"/>
                </a:solidFill>
                <a:latin typeface="Calibri" pitchFamily="34" charset="0"/>
                <a:ea typeface="Calibri" pitchFamily="34" charset="-122"/>
                <a:cs typeface="Calibri" pitchFamily="34" charset="-120"/>
              </a:rPr>
              <a:t>2</a:t>
            </a:r>
            <a:endParaRPr lang="en-US" sz="3000" dirty="0"/>
          </a:p>
        </p:txBody>
      </p:sp>
      <p:sp>
        <p:nvSpPr>
          <p:cNvPr id="12" name="Text 9"/>
          <p:cNvSpPr txBox="1"/>
          <p:nvPr/>
        </p:nvSpPr>
        <p:spPr>
          <a:xfrm>
            <a:off x="6217920" y="1834286"/>
            <a:ext cx="2377440" cy="404165"/>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cities</a:t>
            </a:r>
            <a:endParaRPr lang="en-US" sz="1100" dirty="0"/>
          </a:p>
        </p:txBody>
      </p:sp>
      <p:sp>
        <p:nvSpPr>
          <p:cNvPr id="13" name="Text 10"/>
          <p:cNvSpPr txBox="1"/>
          <p:nvPr/>
        </p:nvSpPr>
        <p:spPr>
          <a:xfrm>
            <a:off x="457200" y="2468880"/>
            <a:ext cx="8229600" cy="274320"/>
          </a:xfrm>
          <a:prstGeom prst="rect">
            <a:avLst/>
          </a:prstGeom>
          <a:noFill/>
          <a:ln/>
        </p:spPr>
        <p:txBody>
          <a:bodyPr wrap="square" lIns="0" tIns="0" rIns="0" bIns="0" rtlCol="0" anchor="t"/>
          <a:lstStyle/>
          <a:p>
            <a:pPr algn="ctr" indent="0" marL="0">
              <a:buNone/>
            </a:pPr>
            <a:r>
              <a:rPr lang="en-US" sz="1200" b="1" dirty="0">
                <a:solidFill>
                  <a:srgbClr val="5B6773"/>
                </a:solidFill>
                <a:latin typeface="Calibri" pitchFamily="34" charset="0"/>
                <a:ea typeface="Calibri" pitchFamily="34" charset="-122"/>
                <a:cs typeface="Calibri" pitchFamily="34" charset="-120"/>
              </a:rPr>
              <a:t>Lahore 26 · Karachi 4   |   16 columns · 0 nulls · 0 duplicate IDs</a:t>
            </a:r>
            <a:endParaRPr lang="en-US" sz="1200" dirty="0"/>
          </a:p>
        </p:txBody>
      </p:sp>
      <p:sp>
        <p:nvSpPr>
          <p:cNvPr id="14" name="Text 11"/>
          <p:cNvSpPr txBox="1"/>
          <p:nvPr/>
        </p:nvSpPr>
        <p:spPr>
          <a:xfrm>
            <a:off x="457200" y="2788920"/>
            <a:ext cx="8229600" cy="274320"/>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Weather: temperature · humidity · wind speed &amp; direction · pressure · precipitation · dew point</a:t>
            </a:r>
            <a:endParaRPr lang="en-US" sz="1100" dirty="0"/>
          </a:p>
        </p:txBody>
      </p:sp>
      <p:sp>
        <p:nvSpPr>
          <p:cNvPr id="15" name="Shape 12"/>
          <p:cNvSpPr/>
          <p:nvPr/>
        </p:nvSpPr>
        <p:spPr>
          <a:xfrm>
            <a:off x="457200" y="3474720"/>
            <a:ext cx="1426464" cy="640080"/>
          </a:xfrm>
          <a:prstGeom prst="roundRect">
            <a:avLst>
              <a:gd name="adj" fmla="val 14286"/>
            </a:avLst>
          </a:prstGeom>
          <a:solidFill>
            <a:srgbClr val="E3F2EE"/>
          </a:solidFill>
          <a:ln w="9525">
            <a:solidFill>
              <a:srgbClr val="DDE5EA"/>
            </a:solidFill>
            <a:prstDash val="solid"/>
          </a:ln>
        </p:spPr>
      </p:sp>
      <p:sp>
        <p:nvSpPr>
          <p:cNvPr id="16" name="Text 13"/>
          <p:cNvSpPr txBox="1"/>
          <p:nvPr/>
        </p:nvSpPr>
        <p:spPr>
          <a:xfrm>
            <a:off x="530352" y="3547872"/>
            <a:ext cx="1280160" cy="493776"/>
          </a:xfrm>
          <a:prstGeom prst="rect">
            <a:avLst/>
          </a:prstGeom>
          <a:noFill/>
          <a:ln/>
        </p:spPr>
        <p:txBody>
          <a:bodyPr wrap="square" lIns="0" tIns="0" rIns="0" bIns="0" rtlCol="0" anchor="ctr"/>
          <a:lstStyle/>
          <a:p>
            <a:pPr algn="ctr" indent="0" marL="0">
              <a:buNone/>
            </a:pPr>
            <a:r>
              <a:rPr lang="en-US" sz="1200" b="1" dirty="0">
                <a:solidFill>
                  <a:srgbClr val="1F2A37"/>
                </a:solidFill>
                <a:latin typeface="Calibri" pitchFamily="34" charset="0"/>
                <a:ea typeface="Calibri" pitchFamily="34" charset="-122"/>
                <a:cs typeface="Calibri" pitchFamily="34" charset="-120"/>
              </a:rPr>
              <a:t>PAQI + Weather</a:t>
            </a:r>
            <a:endParaRPr lang="en-US" sz="1200" dirty="0"/>
          </a:p>
        </p:txBody>
      </p:sp>
      <p:sp>
        <p:nvSpPr>
          <p:cNvPr id="17" name="Text 14"/>
          <p:cNvSpPr txBox="1"/>
          <p:nvPr/>
        </p:nvSpPr>
        <p:spPr>
          <a:xfrm>
            <a:off x="1883664" y="3474720"/>
            <a:ext cx="274320" cy="6400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8" name="Shape 15"/>
          <p:cNvSpPr/>
          <p:nvPr/>
        </p:nvSpPr>
        <p:spPr>
          <a:xfrm>
            <a:off x="2157984" y="3474720"/>
            <a:ext cx="1426464" cy="640080"/>
          </a:xfrm>
          <a:prstGeom prst="roundRect">
            <a:avLst>
              <a:gd name="adj" fmla="val 14286"/>
            </a:avLst>
          </a:prstGeom>
          <a:solidFill>
            <a:srgbClr val="FFFFFF"/>
          </a:solidFill>
          <a:ln w="9525">
            <a:solidFill>
              <a:srgbClr val="DDE5EA"/>
            </a:solidFill>
            <a:prstDash val="solid"/>
          </a:ln>
        </p:spPr>
      </p:sp>
      <p:sp>
        <p:nvSpPr>
          <p:cNvPr id="19" name="Text 16"/>
          <p:cNvSpPr txBox="1"/>
          <p:nvPr/>
        </p:nvSpPr>
        <p:spPr>
          <a:xfrm>
            <a:off x="2231136" y="3547872"/>
            <a:ext cx="1280160" cy="493776"/>
          </a:xfrm>
          <a:prstGeom prst="rect">
            <a:avLst/>
          </a:prstGeom>
          <a:noFill/>
          <a:ln/>
        </p:spPr>
        <p:txBody>
          <a:bodyPr wrap="square" lIns="0" tIns="0" rIns="0" bIns="0" rtlCol="0" anchor="ctr"/>
          <a:lstStyle/>
          <a:p>
            <a:pPr algn="ctr" indent="0" marL="0">
              <a:buNone/>
            </a:pPr>
            <a:r>
              <a:rPr lang="en-US" sz="1200" b="1" dirty="0">
                <a:solidFill>
                  <a:srgbClr val="1F2A37"/>
                </a:solidFill>
                <a:latin typeface="Calibri" pitchFamily="34" charset="0"/>
                <a:ea typeface="Calibri" pitchFamily="34" charset="-122"/>
                <a:cs typeface="Calibri" pitchFamily="34" charset="-120"/>
              </a:rPr>
              <a:t>Raw</a:t>
            </a:r>
            <a:endParaRPr lang="en-US" sz="1200" dirty="0"/>
          </a:p>
        </p:txBody>
      </p:sp>
      <p:sp>
        <p:nvSpPr>
          <p:cNvPr id="20" name="Text 17"/>
          <p:cNvSpPr txBox="1"/>
          <p:nvPr/>
        </p:nvSpPr>
        <p:spPr>
          <a:xfrm>
            <a:off x="3584448" y="3474720"/>
            <a:ext cx="274320" cy="6400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21" name="Shape 18"/>
          <p:cNvSpPr/>
          <p:nvPr/>
        </p:nvSpPr>
        <p:spPr>
          <a:xfrm>
            <a:off x="3858768" y="3474720"/>
            <a:ext cx="1426464" cy="640080"/>
          </a:xfrm>
          <a:prstGeom prst="roundRect">
            <a:avLst>
              <a:gd name="adj" fmla="val 14286"/>
            </a:avLst>
          </a:prstGeom>
          <a:solidFill>
            <a:srgbClr val="FFFFFF"/>
          </a:solidFill>
          <a:ln w="9525">
            <a:solidFill>
              <a:srgbClr val="DDE5EA"/>
            </a:solidFill>
            <a:prstDash val="solid"/>
          </a:ln>
        </p:spPr>
      </p:sp>
      <p:sp>
        <p:nvSpPr>
          <p:cNvPr id="22" name="Text 19"/>
          <p:cNvSpPr txBox="1"/>
          <p:nvPr/>
        </p:nvSpPr>
        <p:spPr>
          <a:xfrm>
            <a:off x="3931920" y="3547872"/>
            <a:ext cx="1280160" cy="493776"/>
          </a:xfrm>
          <a:prstGeom prst="rect">
            <a:avLst/>
          </a:prstGeom>
          <a:noFill/>
          <a:ln/>
        </p:spPr>
        <p:txBody>
          <a:bodyPr wrap="square" lIns="0" tIns="0" rIns="0" bIns="0" rtlCol="0" anchor="ctr"/>
          <a:lstStyle/>
          <a:p>
            <a:pPr algn="ctr" indent="0" marL="0">
              <a:buNone/>
            </a:pPr>
            <a:r>
              <a:rPr lang="en-US" sz="1200" b="1" dirty="0">
                <a:solidFill>
                  <a:srgbClr val="1F2A37"/>
                </a:solidFill>
                <a:latin typeface="Calibri" pitchFamily="34" charset="0"/>
                <a:ea typeface="Calibri" pitchFamily="34" charset="-122"/>
                <a:cs typeface="Calibri" pitchFamily="34" charset="-120"/>
              </a:rPr>
              <a:t>Cleaned</a:t>
            </a:r>
            <a:endParaRPr lang="en-US" sz="1200" dirty="0"/>
          </a:p>
        </p:txBody>
      </p:sp>
      <p:sp>
        <p:nvSpPr>
          <p:cNvPr id="23" name="Text 20"/>
          <p:cNvSpPr txBox="1"/>
          <p:nvPr/>
        </p:nvSpPr>
        <p:spPr>
          <a:xfrm>
            <a:off x="5285232" y="3474720"/>
            <a:ext cx="274320" cy="6400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24" name="Shape 21"/>
          <p:cNvSpPr/>
          <p:nvPr/>
        </p:nvSpPr>
        <p:spPr>
          <a:xfrm>
            <a:off x="5559552" y="3474720"/>
            <a:ext cx="1426464" cy="640080"/>
          </a:xfrm>
          <a:prstGeom prst="roundRect">
            <a:avLst>
              <a:gd name="adj" fmla="val 14286"/>
            </a:avLst>
          </a:prstGeom>
          <a:solidFill>
            <a:srgbClr val="FFFFFF"/>
          </a:solidFill>
          <a:ln w="9525">
            <a:solidFill>
              <a:srgbClr val="DDE5EA"/>
            </a:solidFill>
            <a:prstDash val="solid"/>
          </a:ln>
        </p:spPr>
      </p:sp>
      <p:sp>
        <p:nvSpPr>
          <p:cNvPr id="25" name="Text 22"/>
          <p:cNvSpPr txBox="1"/>
          <p:nvPr/>
        </p:nvSpPr>
        <p:spPr>
          <a:xfrm>
            <a:off x="5632704" y="3547872"/>
            <a:ext cx="1280160" cy="493776"/>
          </a:xfrm>
          <a:prstGeom prst="rect">
            <a:avLst/>
          </a:prstGeom>
          <a:noFill/>
          <a:ln/>
        </p:spPr>
        <p:txBody>
          <a:bodyPr wrap="square" lIns="0" tIns="0" rIns="0" bIns="0" rtlCol="0" anchor="ctr"/>
          <a:lstStyle/>
          <a:p>
            <a:pPr algn="ctr" indent="0" marL="0">
              <a:buNone/>
            </a:pPr>
            <a:r>
              <a:rPr lang="en-US" sz="1200" b="1" dirty="0">
                <a:solidFill>
                  <a:srgbClr val="1F2A37"/>
                </a:solidFill>
                <a:latin typeface="Calibri" pitchFamily="34" charset="0"/>
                <a:ea typeface="Calibri" pitchFamily="34" charset="-122"/>
                <a:cs typeface="Calibri" pitchFamily="34" charset="-120"/>
              </a:rPr>
              <a:t>Gold</a:t>
            </a:r>
            <a:endParaRPr lang="en-US" sz="1200" dirty="0"/>
          </a:p>
        </p:txBody>
      </p:sp>
      <p:sp>
        <p:nvSpPr>
          <p:cNvPr id="26" name="Text 23"/>
          <p:cNvSpPr txBox="1"/>
          <p:nvPr/>
        </p:nvSpPr>
        <p:spPr>
          <a:xfrm>
            <a:off x="6986016" y="3474720"/>
            <a:ext cx="274320" cy="6400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27" name="Shape 24"/>
          <p:cNvSpPr/>
          <p:nvPr/>
        </p:nvSpPr>
        <p:spPr>
          <a:xfrm>
            <a:off x="7260336" y="3474720"/>
            <a:ext cx="1426464" cy="640080"/>
          </a:xfrm>
          <a:prstGeom prst="roundRect">
            <a:avLst>
              <a:gd name="adj" fmla="val 14286"/>
            </a:avLst>
          </a:prstGeom>
          <a:solidFill>
            <a:srgbClr val="E3F2EE"/>
          </a:solidFill>
          <a:ln w="9525">
            <a:solidFill>
              <a:srgbClr val="1F8A70"/>
            </a:solidFill>
            <a:prstDash val="solid"/>
          </a:ln>
        </p:spPr>
      </p:sp>
      <p:sp>
        <p:nvSpPr>
          <p:cNvPr id="28" name="Text 25"/>
          <p:cNvSpPr txBox="1"/>
          <p:nvPr/>
        </p:nvSpPr>
        <p:spPr>
          <a:xfrm>
            <a:off x="7333488" y="3547872"/>
            <a:ext cx="1280160" cy="493776"/>
          </a:xfrm>
          <a:prstGeom prst="rect">
            <a:avLst/>
          </a:prstGeom>
          <a:noFill/>
          <a:ln/>
        </p:spPr>
        <p:txBody>
          <a:bodyPr wrap="square" lIns="0" tIns="0" rIns="0" bIns="0" rtlCol="0" anchor="ctr"/>
          <a:lstStyle/>
          <a:p>
            <a:pPr algn="ctr" indent="0" marL="0">
              <a:buNone/>
            </a:pPr>
            <a:r>
              <a:rPr lang="en-US" sz="1200" b="1" dirty="0">
                <a:solidFill>
                  <a:srgbClr val="1F8A70"/>
                </a:solidFill>
                <a:latin typeface="Calibri" pitchFamily="34" charset="0"/>
                <a:ea typeface="Calibri" pitchFamily="34" charset="-122"/>
                <a:cs typeface="Calibri" pitchFamily="34" charset="-120"/>
              </a:rPr>
              <a:t>Validated</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F2A37"/>
                </a:solidFill>
                <a:latin typeface="Calibri" pitchFamily="34" charset="0"/>
                <a:ea typeface="Calibri" pitchFamily="34" charset="-122"/>
                <a:cs typeface="Calibri" pitchFamily="34" charset="-120"/>
              </a:rPr>
              <a:t>Before AI Predicts, AI Checks</a:t>
            </a:r>
            <a:endParaRPr lang="en-US" sz="2400" dirty="0"/>
          </a:p>
        </p:txBody>
      </p:sp>
      <p:sp>
        <p:nvSpPr>
          <p:cNvPr id="4" name="Shape 1"/>
          <p:cNvSpPr/>
          <p:nvPr/>
        </p:nvSpPr>
        <p:spPr>
          <a:xfrm>
            <a:off x="457200" y="1280160"/>
            <a:ext cx="1851660" cy="1097280"/>
          </a:xfrm>
          <a:prstGeom prst="roundRect">
            <a:avLst>
              <a:gd name="adj" fmla="val 8333"/>
            </a:avLst>
          </a:prstGeom>
          <a:solidFill>
            <a:srgbClr val="FFFFFF"/>
          </a:solidFill>
          <a:ln w="9525">
            <a:solidFill>
              <a:srgbClr val="DDE5EA"/>
            </a:solidFill>
            <a:prstDash val="solid"/>
          </a:ln>
        </p:spPr>
      </p:sp>
      <p:sp>
        <p:nvSpPr>
          <p:cNvPr id="5" name="Text 2"/>
          <p:cNvSpPr txBox="1"/>
          <p:nvPr/>
        </p:nvSpPr>
        <p:spPr>
          <a:xfrm>
            <a:off x="530352" y="1353312"/>
            <a:ext cx="1705356" cy="950976"/>
          </a:xfrm>
          <a:prstGeom prst="rect">
            <a:avLst/>
          </a:prstGeom>
          <a:noFill/>
          <a:ln/>
        </p:spPr>
        <p:txBody>
          <a:bodyPr wrap="square" lIns="0" tIns="0" rIns="0" bIns="0" rtlCol="0" anchor="ctr"/>
          <a:lstStyle/>
          <a:p>
            <a:pPr algn="ctr" indent="0" marL="0">
              <a:buNone/>
            </a:pPr>
            <a:r>
              <a:rPr lang="en-US" sz="1300" b="1" dirty="0">
                <a:solidFill>
                  <a:srgbClr val="1F2A37"/>
                </a:solidFill>
                <a:latin typeface="Calibri" pitchFamily="34" charset="0"/>
                <a:ea typeface="Calibri" pitchFamily="34" charset="-122"/>
                <a:cs typeface="Calibri" pitchFamily="34" charset="-120"/>
              </a:rPr>
              <a:t>DATA</a:t>
            </a:r>
            <a:endParaRPr lang="en-US" sz="1300" dirty="0"/>
          </a:p>
        </p:txBody>
      </p:sp>
      <p:sp>
        <p:nvSpPr>
          <p:cNvPr id="6" name="Text 3"/>
          <p:cNvSpPr txBox="1"/>
          <p:nvPr/>
        </p:nvSpPr>
        <p:spPr>
          <a:xfrm>
            <a:off x="2308860" y="1280160"/>
            <a:ext cx="274320" cy="10972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7" name="Shape 4"/>
          <p:cNvSpPr/>
          <p:nvPr/>
        </p:nvSpPr>
        <p:spPr>
          <a:xfrm>
            <a:off x="2583180" y="1280160"/>
            <a:ext cx="1851660" cy="1097280"/>
          </a:xfrm>
          <a:prstGeom prst="roundRect">
            <a:avLst>
              <a:gd name="adj" fmla="val 8333"/>
            </a:avLst>
          </a:prstGeom>
          <a:solidFill>
            <a:srgbClr val="E3F2EE"/>
          </a:solidFill>
          <a:ln w="9525">
            <a:solidFill>
              <a:srgbClr val="1F8A70"/>
            </a:solidFill>
            <a:prstDash val="solid"/>
          </a:ln>
        </p:spPr>
      </p:sp>
      <p:sp>
        <p:nvSpPr>
          <p:cNvPr id="8" name="Text 5"/>
          <p:cNvSpPr txBox="1"/>
          <p:nvPr/>
        </p:nvSpPr>
        <p:spPr>
          <a:xfrm>
            <a:off x="2656332" y="1353312"/>
            <a:ext cx="1705356" cy="950976"/>
          </a:xfrm>
          <a:prstGeom prst="rect">
            <a:avLst/>
          </a:prstGeom>
          <a:noFill/>
          <a:ln/>
        </p:spPr>
        <p:txBody>
          <a:bodyPr wrap="square" lIns="0" tIns="0" rIns="0" bIns="0" rtlCol="0" anchor="ctr"/>
          <a:lstStyle/>
          <a:p>
            <a:pPr algn="ctr" indent="0" marL="0">
              <a:buNone/>
            </a:pPr>
            <a:r>
              <a:rPr lang="en-US" sz="1300" b="1" dirty="0">
                <a:solidFill>
                  <a:srgbClr val="1F8A70"/>
                </a:solidFill>
                <a:latin typeface="Calibri" pitchFamily="34" charset="0"/>
                <a:ea typeface="Calibri" pitchFamily="34" charset="-122"/>
                <a:cs typeface="Calibri" pitchFamily="34" charset="-120"/>
              </a:rPr>
              <a:t>DATA QUALITY AGENT</a:t>
            </a:r>
            <a:endParaRPr lang="en-US" sz="1300" dirty="0"/>
          </a:p>
        </p:txBody>
      </p:sp>
      <p:sp>
        <p:nvSpPr>
          <p:cNvPr id="9" name="Text 6"/>
          <p:cNvSpPr txBox="1"/>
          <p:nvPr/>
        </p:nvSpPr>
        <p:spPr>
          <a:xfrm>
            <a:off x="4434840" y="1280160"/>
            <a:ext cx="274320" cy="10972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4709160" y="1280160"/>
            <a:ext cx="1851660" cy="1097280"/>
          </a:xfrm>
          <a:prstGeom prst="roundRect">
            <a:avLst>
              <a:gd name="adj" fmla="val 8333"/>
            </a:avLst>
          </a:prstGeom>
          <a:solidFill>
            <a:srgbClr val="FFF1DF"/>
          </a:solidFill>
          <a:ln w="9525">
            <a:solidFill>
              <a:srgbClr val="E8871E"/>
            </a:solidFill>
            <a:prstDash val="solid"/>
          </a:ln>
        </p:spPr>
      </p:sp>
      <p:sp>
        <p:nvSpPr>
          <p:cNvPr id="11" name="Text 8"/>
          <p:cNvSpPr txBox="1"/>
          <p:nvPr/>
        </p:nvSpPr>
        <p:spPr>
          <a:xfrm>
            <a:off x="4782312" y="1353312"/>
            <a:ext cx="1705356" cy="950976"/>
          </a:xfrm>
          <a:prstGeom prst="rect">
            <a:avLst/>
          </a:prstGeom>
          <a:noFill/>
          <a:ln/>
        </p:spPr>
        <p:txBody>
          <a:bodyPr wrap="square" lIns="0" tIns="0" rIns="0" bIns="0" rtlCol="0" anchor="ctr"/>
          <a:lstStyle/>
          <a:p>
            <a:pPr algn="ctr" indent="0" marL="0">
              <a:buNone/>
            </a:pPr>
            <a:r>
              <a:rPr lang="en-US" sz="1300" b="1" dirty="0">
                <a:solidFill>
                  <a:srgbClr val="E8871E"/>
                </a:solidFill>
                <a:latin typeface="Calibri" pitchFamily="34" charset="0"/>
                <a:ea typeface="Calibri" pitchFamily="34" charset="-122"/>
                <a:cs typeface="Calibri" pitchFamily="34" charset="-120"/>
              </a:rPr>
              <a:t>FIX | FILL | FLAG</a:t>
            </a:r>
            <a:endParaRPr lang="en-US" sz="1300" dirty="0"/>
          </a:p>
        </p:txBody>
      </p:sp>
      <p:sp>
        <p:nvSpPr>
          <p:cNvPr id="12" name="Text 9"/>
          <p:cNvSpPr txBox="1"/>
          <p:nvPr/>
        </p:nvSpPr>
        <p:spPr>
          <a:xfrm>
            <a:off x="6560820" y="1280160"/>
            <a:ext cx="274320" cy="109728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3" name="Shape 10"/>
          <p:cNvSpPr/>
          <p:nvPr/>
        </p:nvSpPr>
        <p:spPr>
          <a:xfrm>
            <a:off x="6835140" y="1280160"/>
            <a:ext cx="1851660" cy="1097280"/>
          </a:xfrm>
          <a:prstGeom prst="roundRect">
            <a:avLst>
              <a:gd name="adj" fmla="val 8333"/>
            </a:avLst>
          </a:prstGeom>
          <a:solidFill>
            <a:srgbClr val="E3F2EE"/>
          </a:solidFill>
          <a:ln w="9525">
            <a:solidFill>
              <a:srgbClr val="3FA66B"/>
            </a:solidFill>
            <a:prstDash val="solid"/>
          </a:ln>
        </p:spPr>
      </p:sp>
      <p:sp>
        <p:nvSpPr>
          <p:cNvPr id="14" name="Text 11"/>
          <p:cNvSpPr txBox="1"/>
          <p:nvPr/>
        </p:nvSpPr>
        <p:spPr>
          <a:xfrm>
            <a:off x="6908292" y="1353312"/>
            <a:ext cx="1705356" cy="950976"/>
          </a:xfrm>
          <a:prstGeom prst="rect">
            <a:avLst/>
          </a:prstGeom>
          <a:noFill/>
          <a:ln/>
        </p:spPr>
        <p:txBody>
          <a:bodyPr wrap="square" lIns="0" tIns="0" rIns="0" bIns="0" rtlCol="0" anchor="ctr"/>
          <a:lstStyle/>
          <a:p>
            <a:pPr algn="ctr" indent="0" marL="0">
              <a:buNone/>
            </a:pPr>
            <a:r>
              <a:rPr lang="en-US" sz="1300" b="1" dirty="0">
                <a:solidFill>
                  <a:srgbClr val="3FA66B"/>
                </a:solidFill>
                <a:latin typeface="Calibri" pitchFamily="34" charset="0"/>
                <a:ea typeface="Calibri" pitchFamily="34" charset="-122"/>
                <a:cs typeface="Calibri" pitchFamily="34" charset="-120"/>
              </a:rPr>
              <a:t>TRUSTED DATA</a:t>
            </a:r>
            <a:endParaRPr lang="en-US" sz="1300" dirty="0"/>
          </a:p>
        </p:txBody>
      </p:sp>
      <p:sp>
        <p:nvSpPr>
          <p:cNvPr id="15" name="Text 12"/>
          <p:cNvSpPr txBox="1"/>
          <p:nvPr/>
        </p:nvSpPr>
        <p:spPr>
          <a:xfrm>
            <a:off x="457200" y="2651760"/>
            <a:ext cx="8229600" cy="320040"/>
          </a:xfrm>
          <a:prstGeom prst="rect">
            <a:avLst/>
          </a:prstGeom>
          <a:noFill/>
          <a:ln/>
        </p:spPr>
        <p:txBody>
          <a:bodyPr wrap="square" lIns="0" tIns="0" rIns="0" bIns="0" rtlCol="0" anchor="t"/>
          <a:lstStyle/>
          <a:p>
            <a:pPr algn="ctr" indent="0" marL="0">
              <a:buNone/>
            </a:pPr>
            <a:r>
              <a:rPr lang="en-US" sz="1400" b="1" dirty="0">
                <a:solidFill>
                  <a:srgbClr val="1F2A37"/>
                </a:solidFill>
                <a:latin typeface="Calibri" pitchFamily="34" charset="0"/>
                <a:ea typeface="Calibri" pitchFamily="34" charset="-122"/>
                <a:cs typeface="Calibri" pitchFamily="34" charset="-120"/>
              </a:rPr>
              <a:t>Checks: schema · missingness · duplicates · ranges · quality issues</a:t>
            </a:r>
            <a:endParaRPr lang="en-US" sz="1400" dirty="0"/>
          </a:p>
        </p:txBody>
      </p:sp>
      <p:sp>
        <p:nvSpPr>
          <p:cNvPr id="16" name="Text 13"/>
          <p:cNvSpPr txBox="1"/>
          <p:nvPr/>
        </p:nvSpPr>
        <p:spPr>
          <a:xfrm>
            <a:off x="457200" y="3200400"/>
            <a:ext cx="8229600" cy="457200"/>
          </a:xfrm>
          <a:prstGeom prst="rect">
            <a:avLst/>
          </a:prstGeom>
          <a:noFill/>
          <a:ln/>
        </p:spPr>
        <p:txBody>
          <a:bodyPr wrap="square" lIns="0" tIns="0" rIns="0" bIns="0" rtlCol="0" anchor="t"/>
          <a:lstStyle/>
          <a:p>
            <a:pPr algn="ctr" indent="0" marL="0">
              <a:buNone/>
            </a:pPr>
            <a:r>
              <a:rPr lang="en-US" sz="1400" dirty="0">
                <a:solidFill>
                  <a:srgbClr val="5B6773"/>
                </a:solidFill>
                <a:latin typeface="Calibri" pitchFamily="34" charset="0"/>
                <a:ea typeface="Calibri" pitchFamily="34" charset="-122"/>
                <a:cs typeface="Calibri" pitchFamily="34" charset="-120"/>
              </a:rPr>
              <a:t>Policy-driven decisions, not raw data fed blindly into a model or LLM.</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F2A37"/>
                </a:solidFill>
                <a:latin typeface="Calibri" pitchFamily="34" charset="0"/>
                <a:ea typeface="Calibri" pitchFamily="34" charset="-122"/>
                <a:cs typeface="Calibri" pitchFamily="34" charset="-120"/>
              </a:rPr>
              <a:t>We Don’t Just Measure Pollution. We Forecast It.</a:t>
            </a:r>
            <a:endParaRPr lang="en-US" sz="2400" dirty="0"/>
          </a:p>
        </p:txBody>
      </p:sp>
      <p:sp>
        <p:nvSpPr>
          <p:cNvPr id="4" name="[24H FORECAST SCREENSHOT]"/>
          <p:cNvSpPr/>
          <p:nvPr/>
        </p:nvSpPr>
        <p:spPr>
          <a:xfrm>
            <a:off x="457200" y="1097280"/>
            <a:ext cx="4206240" cy="3474720"/>
          </a:xfrm>
          <a:prstGeom prst="roundRect">
            <a:avLst>
              <a:gd name="adj" fmla="val 2632"/>
            </a:avLst>
          </a:prstGeom>
          <a:solidFill>
            <a:srgbClr val="FFFFFF"/>
          </a:solidFill>
          <a:ln w="9525">
            <a:solidFill>
              <a:srgbClr val="DDE5EA"/>
            </a:solidFill>
            <a:prstDash val="solid"/>
          </a:ln>
        </p:spPr>
      </p:sp>
      <p:pic>
        <p:nvPicPr>
          <p:cNvPr id="5" name="[24H FORECAST SCREENSHOT]" descr="[24H FORECAST SCREENSHOT]">    </p:cNvPr>
          <p:cNvPicPr>
            <a:picLocks noChangeAspect="1"/>
          </p:cNvPicPr>
          <p:nvPr/>
        </p:nvPicPr>
        <p:blipFill>
          <a:blip r:embed="rId1"/>
          <a:stretch>
            <a:fillRect/>
          </a:stretch>
        </p:blipFill>
        <p:spPr>
          <a:xfrm>
            <a:off x="548640" y="1210491"/>
            <a:ext cx="4023360" cy="3248297"/>
          </a:xfrm>
          <a:prstGeom prst="rect">
            <a:avLst/>
          </a:prstGeom>
        </p:spPr>
      </p:pic>
      <p:sp>
        <p:nvSpPr>
          <p:cNvPr id="6" name="Shape 2"/>
          <p:cNvSpPr/>
          <p:nvPr/>
        </p:nvSpPr>
        <p:spPr>
          <a:xfrm>
            <a:off x="4937760" y="1097280"/>
            <a:ext cx="3749040" cy="475488"/>
          </a:xfrm>
          <a:prstGeom prst="roundRect">
            <a:avLst>
              <a:gd name="adj" fmla="val 19231"/>
            </a:avLst>
          </a:prstGeom>
          <a:solidFill>
            <a:srgbClr val="FFFFFF"/>
          </a:solidFill>
          <a:ln w="9525">
            <a:solidFill>
              <a:srgbClr val="1F8A70"/>
            </a:solidFill>
            <a:prstDash val="solid"/>
          </a:ln>
        </p:spPr>
      </p:sp>
      <p:sp>
        <p:nvSpPr>
          <p:cNvPr id="7" name="Text 3"/>
          <p:cNvSpPr txBox="1"/>
          <p:nvPr/>
        </p:nvSpPr>
        <p:spPr>
          <a:xfrm>
            <a:off x="5120640" y="1097280"/>
            <a:ext cx="3474720" cy="475488"/>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HistGradientBoostingRegressor</a:t>
            </a:r>
            <a:endParaRPr lang="en-US" sz="1300" dirty="0"/>
          </a:p>
        </p:txBody>
      </p:sp>
      <p:sp>
        <p:nvSpPr>
          <p:cNvPr id="8" name="Shape 4"/>
          <p:cNvSpPr/>
          <p:nvPr/>
        </p:nvSpPr>
        <p:spPr>
          <a:xfrm>
            <a:off x="4937760" y="1682496"/>
            <a:ext cx="3749040" cy="475488"/>
          </a:xfrm>
          <a:prstGeom prst="roundRect">
            <a:avLst>
              <a:gd name="adj" fmla="val 19231"/>
            </a:avLst>
          </a:prstGeom>
          <a:solidFill>
            <a:srgbClr val="FFFFFF"/>
          </a:solidFill>
          <a:ln w="9525">
            <a:solidFill>
              <a:srgbClr val="1F8A70"/>
            </a:solidFill>
            <a:prstDash val="solid"/>
          </a:ln>
        </p:spPr>
      </p:sp>
      <p:sp>
        <p:nvSpPr>
          <p:cNvPr id="9" name="Text 5"/>
          <p:cNvSpPr txBox="1"/>
          <p:nvPr/>
        </p:nvSpPr>
        <p:spPr>
          <a:xfrm>
            <a:off x="5120640" y="1682496"/>
            <a:ext cx="3474720" cy="475488"/>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40 features · 24-hour horizon</a:t>
            </a:r>
            <a:endParaRPr lang="en-US" sz="1300" dirty="0"/>
          </a:p>
        </p:txBody>
      </p:sp>
      <p:sp>
        <p:nvSpPr>
          <p:cNvPr id="10" name="Shape 6"/>
          <p:cNvSpPr/>
          <p:nvPr/>
        </p:nvSpPr>
        <p:spPr>
          <a:xfrm>
            <a:off x="4937760" y="2267712"/>
            <a:ext cx="3749040" cy="475488"/>
          </a:xfrm>
          <a:prstGeom prst="roundRect">
            <a:avLst>
              <a:gd name="adj" fmla="val 19231"/>
            </a:avLst>
          </a:prstGeom>
          <a:solidFill>
            <a:srgbClr val="FFFFFF"/>
          </a:solidFill>
          <a:ln w="9525">
            <a:solidFill>
              <a:srgbClr val="1F8A70"/>
            </a:solidFill>
            <a:prstDash val="solid"/>
          </a:ln>
        </p:spPr>
      </p:sp>
      <p:sp>
        <p:nvSpPr>
          <p:cNvPr id="11" name="Text 7"/>
          <p:cNvSpPr txBox="1"/>
          <p:nvPr/>
        </p:nvSpPr>
        <p:spPr>
          <a:xfrm>
            <a:off x="5120640" y="2267712"/>
            <a:ext cx="3474720" cy="475488"/>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log1p target transformation</a:t>
            </a:r>
            <a:endParaRPr lang="en-US" sz="1300" dirty="0"/>
          </a:p>
        </p:txBody>
      </p:sp>
      <p:sp>
        <p:nvSpPr>
          <p:cNvPr id="12" name="Shape 8"/>
          <p:cNvSpPr/>
          <p:nvPr/>
        </p:nvSpPr>
        <p:spPr>
          <a:xfrm>
            <a:off x="4937760" y="2852928"/>
            <a:ext cx="3749040" cy="475488"/>
          </a:xfrm>
          <a:prstGeom prst="roundRect">
            <a:avLst>
              <a:gd name="adj" fmla="val 19231"/>
            </a:avLst>
          </a:prstGeom>
          <a:solidFill>
            <a:srgbClr val="FFFFFF"/>
          </a:solidFill>
          <a:ln w="9525">
            <a:solidFill>
              <a:srgbClr val="E8871E"/>
            </a:solidFill>
            <a:prstDash val="solid"/>
          </a:ln>
        </p:spPr>
      </p:sp>
      <p:sp>
        <p:nvSpPr>
          <p:cNvPr id="13" name="Text 9"/>
          <p:cNvSpPr txBox="1"/>
          <p:nvPr/>
        </p:nvSpPr>
        <p:spPr>
          <a:xfrm>
            <a:off x="5120640" y="2852928"/>
            <a:ext cx="3474720" cy="475488"/>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Uncertainty interval (80%)</a:t>
            </a:r>
            <a:endParaRPr lang="en-US" sz="1300" dirty="0"/>
          </a:p>
        </p:txBody>
      </p:sp>
      <p:sp>
        <p:nvSpPr>
          <p:cNvPr id="14" name="Shape 10"/>
          <p:cNvSpPr/>
          <p:nvPr/>
        </p:nvSpPr>
        <p:spPr>
          <a:xfrm>
            <a:off x="4937760" y="3438144"/>
            <a:ext cx="3749040" cy="475488"/>
          </a:xfrm>
          <a:prstGeom prst="roundRect">
            <a:avLst>
              <a:gd name="adj" fmla="val 19231"/>
            </a:avLst>
          </a:prstGeom>
          <a:solidFill>
            <a:srgbClr val="FFFFFF"/>
          </a:solidFill>
          <a:ln w="9525">
            <a:solidFill>
              <a:srgbClr val="E8871E"/>
            </a:solidFill>
            <a:prstDash val="solid"/>
          </a:ln>
        </p:spPr>
      </p:sp>
      <p:sp>
        <p:nvSpPr>
          <p:cNvPr id="15" name="Text 11"/>
          <p:cNvSpPr txBox="1"/>
          <p:nvPr/>
        </p:nvSpPr>
        <p:spPr>
          <a:xfrm>
            <a:off x="5120640" y="3438144"/>
            <a:ext cx="3474720" cy="475488"/>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Persistence baseline for comparison</a:t>
            </a:r>
            <a:endParaRPr lang="en-US" sz="1300" dirty="0"/>
          </a:p>
        </p:txBody>
      </p:sp>
      <p:sp>
        <p:nvSpPr>
          <p:cNvPr id="16" name="Shape 12"/>
          <p:cNvSpPr/>
          <p:nvPr/>
        </p:nvSpPr>
        <p:spPr>
          <a:xfrm>
            <a:off x="4937760" y="4023360"/>
            <a:ext cx="3749040" cy="475488"/>
          </a:xfrm>
          <a:prstGeom prst="roundRect">
            <a:avLst>
              <a:gd name="adj" fmla="val 19231"/>
            </a:avLst>
          </a:prstGeom>
          <a:solidFill>
            <a:srgbClr val="FFFFFF"/>
          </a:solidFill>
          <a:ln w="9525">
            <a:solidFill>
              <a:srgbClr val="D64545"/>
            </a:solidFill>
            <a:prstDash val="solid"/>
          </a:ln>
        </p:spPr>
      </p:sp>
      <p:sp>
        <p:nvSpPr>
          <p:cNvPr id="17" name="Text 13"/>
          <p:cNvSpPr txBox="1"/>
          <p:nvPr/>
        </p:nvSpPr>
        <p:spPr>
          <a:xfrm>
            <a:off x="5120640" y="4023360"/>
            <a:ext cx="3474720" cy="475488"/>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Nowcast ≠ model forecast</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F2A37"/>
                </a:solidFill>
                <a:latin typeface="Calibri" pitchFamily="34" charset="0"/>
                <a:ea typeface="Calibri" pitchFamily="34" charset="-122"/>
                <a:cs typeface="Calibri" pitchFamily="34" charset="-120"/>
              </a:rPr>
              <a:t>Does the Model Actually Work?</a:t>
            </a:r>
            <a:endParaRPr lang="en-US" sz="2400" dirty="0"/>
          </a:p>
        </p:txBody>
      </p:sp>
      <p:sp>
        <p:nvSpPr>
          <p:cNvPr id="4" name="Shape 1"/>
          <p:cNvSpPr/>
          <p:nvPr/>
        </p:nvSpPr>
        <p:spPr>
          <a:xfrm>
            <a:off x="457200" y="1005840"/>
            <a:ext cx="2651760" cy="1051560"/>
          </a:xfrm>
          <a:prstGeom prst="roundRect">
            <a:avLst>
              <a:gd name="adj" fmla="val 8696"/>
            </a:avLst>
          </a:prstGeom>
          <a:solidFill>
            <a:srgbClr val="FFFFFF"/>
          </a:solidFill>
          <a:ln w="9525">
            <a:solidFill>
              <a:srgbClr val="1F8A70"/>
            </a:solidFill>
            <a:prstDash val="solid"/>
          </a:ln>
        </p:spPr>
      </p:sp>
      <p:sp>
        <p:nvSpPr>
          <p:cNvPr id="5" name="Text 2"/>
          <p:cNvSpPr txBox="1"/>
          <p:nvPr/>
        </p:nvSpPr>
        <p:spPr>
          <a:xfrm>
            <a:off x="457200" y="1097280"/>
            <a:ext cx="2651760" cy="578358"/>
          </a:xfrm>
          <a:prstGeom prst="rect">
            <a:avLst/>
          </a:prstGeom>
          <a:noFill/>
          <a:ln/>
        </p:spPr>
        <p:txBody>
          <a:bodyPr wrap="square" lIns="0" tIns="0" rIns="0" bIns="0" rtlCol="0" anchor="ctr"/>
          <a:lstStyle/>
          <a:p>
            <a:pPr algn="ctr" indent="0" marL="0">
              <a:buNone/>
            </a:pPr>
            <a:r>
              <a:rPr lang="en-US" sz="3000" b="1" dirty="0">
                <a:solidFill>
                  <a:srgbClr val="1F8A70"/>
                </a:solidFill>
                <a:latin typeface="Calibri" pitchFamily="34" charset="0"/>
                <a:ea typeface="Calibri" pitchFamily="34" charset="-122"/>
                <a:cs typeface="Calibri" pitchFamily="34" charset="-120"/>
              </a:rPr>
              <a:t>40.8 vs 42.3</a:t>
            </a:r>
            <a:endParaRPr lang="en-US" sz="3000" dirty="0"/>
          </a:p>
        </p:txBody>
      </p:sp>
      <p:sp>
        <p:nvSpPr>
          <p:cNvPr id="6" name="Text 3"/>
          <p:cNvSpPr txBox="1"/>
          <p:nvPr/>
        </p:nvSpPr>
        <p:spPr>
          <a:xfrm>
            <a:off x="548640" y="1657807"/>
            <a:ext cx="2468880" cy="357530"/>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MAE: model vs persistence (µg/m³)</a:t>
            </a:r>
            <a:endParaRPr lang="en-US" sz="1100" dirty="0"/>
          </a:p>
        </p:txBody>
      </p:sp>
      <p:sp>
        <p:nvSpPr>
          <p:cNvPr id="7" name="Shape 4"/>
          <p:cNvSpPr/>
          <p:nvPr/>
        </p:nvSpPr>
        <p:spPr>
          <a:xfrm>
            <a:off x="3246120" y="1005840"/>
            <a:ext cx="1645920" cy="1051560"/>
          </a:xfrm>
          <a:prstGeom prst="roundRect">
            <a:avLst>
              <a:gd name="adj" fmla="val 8696"/>
            </a:avLst>
          </a:prstGeom>
          <a:solidFill>
            <a:srgbClr val="FFFFFF"/>
          </a:solidFill>
          <a:ln w="9525">
            <a:solidFill>
              <a:srgbClr val="3FA66B"/>
            </a:solidFill>
            <a:prstDash val="solid"/>
          </a:ln>
        </p:spPr>
      </p:sp>
      <p:sp>
        <p:nvSpPr>
          <p:cNvPr id="8" name="Text 5"/>
          <p:cNvSpPr txBox="1"/>
          <p:nvPr/>
        </p:nvSpPr>
        <p:spPr>
          <a:xfrm>
            <a:off x="3246120" y="1097280"/>
            <a:ext cx="1645920" cy="578358"/>
          </a:xfrm>
          <a:prstGeom prst="rect">
            <a:avLst/>
          </a:prstGeom>
          <a:noFill/>
          <a:ln/>
        </p:spPr>
        <p:txBody>
          <a:bodyPr wrap="square" lIns="0" tIns="0" rIns="0" bIns="0" rtlCol="0" anchor="ctr"/>
          <a:lstStyle/>
          <a:p>
            <a:pPr algn="ctr" indent="0" marL="0">
              <a:buNone/>
            </a:pPr>
            <a:r>
              <a:rPr lang="en-US" sz="3000" b="1" dirty="0">
                <a:solidFill>
                  <a:srgbClr val="3FA66B"/>
                </a:solidFill>
                <a:latin typeface="Calibri" pitchFamily="34" charset="0"/>
                <a:ea typeface="Calibri" pitchFamily="34" charset="-122"/>
                <a:cs typeface="Calibri" pitchFamily="34" charset="-120"/>
              </a:rPr>
              <a:t>−3.63%</a:t>
            </a:r>
            <a:endParaRPr lang="en-US" sz="3000" dirty="0"/>
          </a:p>
        </p:txBody>
      </p:sp>
      <p:sp>
        <p:nvSpPr>
          <p:cNvPr id="9" name="Text 6"/>
          <p:cNvSpPr txBox="1"/>
          <p:nvPr/>
        </p:nvSpPr>
        <p:spPr>
          <a:xfrm>
            <a:off x="3337560" y="1657807"/>
            <a:ext cx="1463040" cy="357530"/>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MAE vs baseline</a:t>
            </a:r>
            <a:endParaRPr lang="en-US" sz="1100" dirty="0"/>
          </a:p>
        </p:txBody>
      </p:sp>
      <p:sp>
        <p:nvSpPr>
          <p:cNvPr id="10" name="Shape 7"/>
          <p:cNvSpPr/>
          <p:nvPr/>
        </p:nvSpPr>
        <p:spPr>
          <a:xfrm>
            <a:off x="5029200" y="1005840"/>
            <a:ext cx="1645920" cy="1051560"/>
          </a:xfrm>
          <a:prstGeom prst="roundRect">
            <a:avLst>
              <a:gd name="adj" fmla="val 8696"/>
            </a:avLst>
          </a:prstGeom>
          <a:solidFill>
            <a:srgbClr val="FFFFFF"/>
          </a:solidFill>
          <a:ln w="9525">
            <a:solidFill>
              <a:srgbClr val="3FA66B"/>
            </a:solidFill>
            <a:prstDash val="solid"/>
          </a:ln>
        </p:spPr>
      </p:sp>
      <p:sp>
        <p:nvSpPr>
          <p:cNvPr id="11" name="Text 8"/>
          <p:cNvSpPr txBox="1"/>
          <p:nvPr/>
        </p:nvSpPr>
        <p:spPr>
          <a:xfrm>
            <a:off x="5029200" y="1097280"/>
            <a:ext cx="1645920" cy="578358"/>
          </a:xfrm>
          <a:prstGeom prst="rect">
            <a:avLst/>
          </a:prstGeom>
          <a:noFill/>
          <a:ln/>
        </p:spPr>
        <p:txBody>
          <a:bodyPr wrap="square" lIns="0" tIns="0" rIns="0" bIns="0" rtlCol="0" anchor="ctr"/>
          <a:lstStyle/>
          <a:p>
            <a:pPr algn="ctr" indent="0" marL="0">
              <a:buNone/>
            </a:pPr>
            <a:r>
              <a:rPr lang="en-US" sz="3000" b="1" dirty="0">
                <a:solidFill>
                  <a:srgbClr val="3FA66B"/>
                </a:solidFill>
                <a:latin typeface="Calibri" pitchFamily="34" charset="0"/>
                <a:ea typeface="Calibri" pitchFamily="34" charset="-122"/>
                <a:cs typeface="Calibri" pitchFamily="34" charset="-120"/>
              </a:rPr>
              <a:t>−5.79%</a:t>
            </a:r>
            <a:endParaRPr lang="en-US" sz="3000" dirty="0"/>
          </a:p>
        </p:txBody>
      </p:sp>
      <p:sp>
        <p:nvSpPr>
          <p:cNvPr id="12" name="Text 9"/>
          <p:cNvSpPr txBox="1"/>
          <p:nvPr/>
        </p:nvSpPr>
        <p:spPr>
          <a:xfrm>
            <a:off x="5120640" y="1657807"/>
            <a:ext cx="1463040" cy="357530"/>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RMSE vs baseline</a:t>
            </a:r>
            <a:endParaRPr lang="en-US" sz="1100" dirty="0"/>
          </a:p>
        </p:txBody>
      </p:sp>
      <p:sp>
        <p:nvSpPr>
          <p:cNvPr id="13" name="Shape 10"/>
          <p:cNvSpPr/>
          <p:nvPr/>
        </p:nvSpPr>
        <p:spPr>
          <a:xfrm>
            <a:off x="6812280" y="1005840"/>
            <a:ext cx="1874520" cy="1051560"/>
          </a:xfrm>
          <a:prstGeom prst="roundRect">
            <a:avLst>
              <a:gd name="adj" fmla="val 8696"/>
            </a:avLst>
          </a:prstGeom>
          <a:solidFill>
            <a:srgbClr val="FFFFFF"/>
          </a:solidFill>
          <a:ln w="9525">
            <a:solidFill>
              <a:srgbClr val="E8871E"/>
            </a:solidFill>
            <a:prstDash val="solid"/>
          </a:ln>
        </p:spPr>
      </p:sp>
      <p:sp>
        <p:nvSpPr>
          <p:cNvPr id="14" name="Text 11"/>
          <p:cNvSpPr txBox="1"/>
          <p:nvPr/>
        </p:nvSpPr>
        <p:spPr>
          <a:xfrm>
            <a:off x="6812280" y="1097280"/>
            <a:ext cx="1874520" cy="578358"/>
          </a:xfrm>
          <a:prstGeom prst="rect">
            <a:avLst/>
          </a:prstGeom>
          <a:noFill/>
          <a:ln/>
        </p:spPr>
        <p:txBody>
          <a:bodyPr wrap="square" lIns="0" tIns="0" rIns="0" bIns="0" rtlCol="0" anchor="ctr"/>
          <a:lstStyle/>
          <a:p>
            <a:pPr algn="ctr" indent="0" marL="0">
              <a:buNone/>
            </a:pPr>
            <a:r>
              <a:rPr lang="en-US" sz="3000" b="1" dirty="0">
                <a:solidFill>
                  <a:srgbClr val="E8871E"/>
                </a:solidFill>
                <a:latin typeface="Calibri" pitchFamily="34" charset="0"/>
                <a:ea typeface="Calibri" pitchFamily="34" charset="-122"/>
                <a:cs typeface="Calibri" pitchFamily="34" charset="-120"/>
              </a:rPr>
              <a:t>82.4%</a:t>
            </a:r>
            <a:endParaRPr lang="en-US" sz="3000" dirty="0"/>
          </a:p>
        </p:txBody>
      </p:sp>
      <p:sp>
        <p:nvSpPr>
          <p:cNvPr id="15" name="Text 12"/>
          <p:cNvSpPr txBox="1"/>
          <p:nvPr/>
        </p:nvSpPr>
        <p:spPr>
          <a:xfrm>
            <a:off x="6903720" y="1657807"/>
            <a:ext cx="1691640" cy="357530"/>
          </a:xfrm>
          <a:prstGeom prst="rect">
            <a:avLst/>
          </a:prstGeom>
          <a:noFill/>
          <a:ln/>
        </p:spPr>
        <p:txBody>
          <a:bodyPr wrap="square" lIns="0" tIns="0" rIns="0" bIns="0" rtlCol="0" anchor="t"/>
          <a:lstStyle/>
          <a:p>
            <a:pPr algn="ctr" indent="0" marL="0">
              <a:buNone/>
            </a:pPr>
            <a:r>
              <a:rPr lang="en-US" sz="1100" dirty="0">
                <a:solidFill>
                  <a:srgbClr val="5B6773"/>
                </a:solidFill>
                <a:latin typeface="Calibri" pitchFamily="34" charset="0"/>
                <a:ea typeface="Calibri" pitchFamily="34" charset="-122"/>
                <a:cs typeface="Calibri" pitchFamily="34" charset="-120"/>
              </a:rPr>
              <a:t>coverage (80% target)</a:t>
            </a:r>
            <a:endParaRPr lang="en-US" sz="1100" dirty="0"/>
          </a:p>
        </p:txBody>
      </p:sp>
      <p:sp>
        <p:nvSpPr>
          <p:cNvPr id="16" name="[MODEL PERFORMANCE SCREENSHOT]"/>
          <p:cNvSpPr/>
          <p:nvPr/>
        </p:nvSpPr>
        <p:spPr>
          <a:xfrm>
            <a:off x="457200" y="2194560"/>
            <a:ext cx="6035040" cy="2423160"/>
          </a:xfrm>
          <a:prstGeom prst="roundRect">
            <a:avLst>
              <a:gd name="adj" fmla="val 3774"/>
            </a:avLst>
          </a:prstGeom>
          <a:solidFill>
            <a:srgbClr val="FFFFFF"/>
          </a:solidFill>
          <a:ln w="9525">
            <a:solidFill>
              <a:srgbClr val="DDE5EA"/>
            </a:solidFill>
            <a:prstDash val="solid"/>
          </a:ln>
        </p:spPr>
      </p:sp>
      <p:pic>
        <p:nvPicPr>
          <p:cNvPr id="17" name="[MODEL PERFORMANCE SCREENSHOT]" descr="[MODEL PERFORMANCE SCREENSHOT]">    </p:cNvPr>
          <p:cNvPicPr>
            <a:picLocks noChangeAspect="1"/>
          </p:cNvPicPr>
          <p:nvPr/>
        </p:nvPicPr>
        <p:blipFill>
          <a:blip r:embed="rId1"/>
          <a:stretch>
            <a:fillRect/>
          </a:stretch>
        </p:blipFill>
        <p:spPr>
          <a:xfrm>
            <a:off x="736110" y="2286000"/>
            <a:ext cx="5477220" cy="2240280"/>
          </a:xfrm>
          <a:prstGeom prst="rect">
            <a:avLst/>
          </a:prstGeom>
        </p:spPr>
      </p:pic>
      <p:sp>
        <p:nvSpPr>
          <p:cNvPr id="18" name="Text 14"/>
          <p:cNvSpPr txBox="1"/>
          <p:nvPr/>
        </p:nvSpPr>
        <p:spPr>
          <a:xfrm>
            <a:off x="6720840" y="2286000"/>
            <a:ext cx="2011680" cy="548640"/>
          </a:xfrm>
          <a:prstGeom prst="rect">
            <a:avLst/>
          </a:prstGeom>
          <a:noFill/>
          <a:ln/>
        </p:spPr>
        <p:txBody>
          <a:bodyPr wrap="square" lIns="0" tIns="0" rIns="0" bIns="0" rtlCol="0" anchor="t"/>
          <a:lstStyle/>
          <a:p>
            <a:pPr indent="0" marL="0">
              <a:buNone/>
            </a:pPr>
            <a:r>
              <a:rPr lang="en-US" sz="3200" b="1" dirty="0">
                <a:solidFill>
                  <a:srgbClr val="1F8A70"/>
                </a:solidFill>
                <a:latin typeface="Calibri" pitchFamily="34" charset="0"/>
                <a:ea typeface="Calibri" pitchFamily="34" charset="-122"/>
                <a:cs typeface="Calibri" pitchFamily="34" charset="-120"/>
              </a:rPr>
              <a:t>49,116</a:t>
            </a:r>
            <a:endParaRPr lang="en-US" sz="3200" dirty="0"/>
          </a:p>
        </p:txBody>
      </p:sp>
      <p:sp>
        <p:nvSpPr>
          <p:cNvPr id="19" name="Text 15"/>
          <p:cNvSpPr txBox="1"/>
          <p:nvPr/>
        </p:nvSpPr>
        <p:spPr>
          <a:xfrm>
            <a:off x="6720840" y="2834640"/>
            <a:ext cx="2011680" cy="548640"/>
          </a:xfrm>
          <a:prstGeom prst="rect">
            <a:avLst/>
          </a:prstGeom>
          <a:noFill/>
          <a:ln/>
        </p:spPr>
        <p:txBody>
          <a:bodyPr wrap="square" lIns="0" tIns="0" rIns="0" bIns="0" rtlCol="0" anchor="t"/>
          <a:lstStyle/>
          <a:p>
            <a:pPr indent="0" marL="0">
              <a:buNone/>
            </a:pPr>
            <a:r>
              <a:rPr lang="en-US" sz="1200" dirty="0">
                <a:solidFill>
                  <a:srgbClr val="5B6773"/>
                </a:solidFill>
                <a:latin typeface="Calibri" pitchFamily="34" charset="0"/>
                <a:ea typeface="Calibri" pitchFamily="34" charset="-122"/>
                <a:cs typeface="Calibri" pitchFamily="34" charset="-120"/>
              </a:rPr>
              <a:t>untouched chronological test observations</a:t>
            </a:r>
            <a:endParaRPr lang="en-US" sz="1200" dirty="0"/>
          </a:p>
        </p:txBody>
      </p:sp>
      <p:sp>
        <p:nvSpPr>
          <p:cNvPr id="20" name="Text 16"/>
          <p:cNvSpPr txBox="1"/>
          <p:nvPr/>
        </p:nvSpPr>
        <p:spPr>
          <a:xfrm>
            <a:off x="6720840" y="3566160"/>
            <a:ext cx="2011680" cy="822960"/>
          </a:xfrm>
          <a:prstGeom prst="rect">
            <a:avLst/>
          </a:prstGeom>
          <a:noFill/>
          <a:ln/>
        </p:spPr>
        <p:txBody>
          <a:bodyPr wrap="square" lIns="0" tIns="0" rIns="0" bIns="0" rtlCol="0" anchor="t"/>
          <a:lstStyle/>
          <a:p>
            <a:pPr indent="0" marL="0">
              <a:buNone/>
            </a:pPr>
            <a:r>
              <a:rPr lang="en-US" sz="1200" b="1" dirty="0">
                <a:solidFill>
                  <a:srgbClr val="1F2A37"/>
                </a:solidFill>
                <a:latin typeface="Calibri" pitchFamily="34" charset="0"/>
                <a:ea typeface="Calibri" pitchFamily="34" charset="-122"/>
                <a:cs typeface="Calibri" pitchFamily="34" charset="-120"/>
              </a:rPr>
              <a:t>Beats a simple baseline with calibrated uncertainty.</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F2A37"/>
                </a:solidFill>
                <a:latin typeface="Calibri" pitchFamily="34" charset="0"/>
                <a:ea typeface="Calibri" pitchFamily="34" charset="-122"/>
                <a:cs typeface="Calibri" pitchFamily="34" charset="-120"/>
              </a:rPr>
              <a:t>A Forecast Is Only Useful If People Can Act on It</a:t>
            </a:r>
            <a:endParaRPr lang="en-US" sz="2400" dirty="0"/>
          </a:p>
        </p:txBody>
      </p:sp>
      <p:sp>
        <p:nvSpPr>
          <p:cNvPr id="4" name="[DECISION ASSISTANT CARD SCREENSHOT]"/>
          <p:cNvSpPr/>
          <p:nvPr/>
        </p:nvSpPr>
        <p:spPr>
          <a:xfrm>
            <a:off x="457200" y="1097280"/>
            <a:ext cx="3657600" cy="3520440"/>
          </a:xfrm>
          <a:prstGeom prst="roundRect">
            <a:avLst>
              <a:gd name="adj" fmla="val 2597"/>
            </a:avLst>
          </a:prstGeom>
          <a:solidFill>
            <a:srgbClr val="FFFFFF"/>
          </a:solidFill>
          <a:ln w="9525">
            <a:solidFill>
              <a:srgbClr val="DDE5EA"/>
            </a:solidFill>
            <a:prstDash val="solid"/>
          </a:ln>
        </p:spPr>
      </p:sp>
      <p:pic>
        <p:nvPicPr>
          <p:cNvPr id="5" name="[DECISION ASSISTANT CARD SCREENSHOT]" descr="[DECISION ASSISTANT CARD SCREENSHOT]">    </p:cNvPr>
          <p:cNvPicPr>
            <a:picLocks noChangeAspect="1"/>
          </p:cNvPicPr>
          <p:nvPr/>
        </p:nvPicPr>
        <p:blipFill>
          <a:blip r:embed="rId1"/>
          <a:stretch>
            <a:fillRect/>
          </a:stretch>
        </p:blipFill>
        <p:spPr>
          <a:xfrm>
            <a:off x="548640" y="1252796"/>
            <a:ext cx="3474720" cy="3209409"/>
          </a:xfrm>
          <a:prstGeom prst="rect">
            <a:avLst/>
          </a:prstGeom>
        </p:spPr>
      </p:pic>
      <p:sp>
        <p:nvSpPr>
          <p:cNvPr id="6" name="Shape 2"/>
          <p:cNvSpPr/>
          <p:nvPr/>
        </p:nvSpPr>
        <p:spPr>
          <a:xfrm>
            <a:off x="4663440" y="1097280"/>
            <a:ext cx="4023360" cy="594360"/>
          </a:xfrm>
          <a:prstGeom prst="roundRect">
            <a:avLst>
              <a:gd name="adj" fmla="val 15385"/>
            </a:avLst>
          </a:prstGeom>
          <a:solidFill>
            <a:srgbClr val="FFFFFF"/>
          </a:solidFill>
          <a:ln w="9525">
            <a:solidFill>
              <a:srgbClr val="1F2A37"/>
            </a:solidFill>
            <a:prstDash val="solid"/>
          </a:ln>
        </p:spPr>
      </p:sp>
      <p:sp>
        <p:nvSpPr>
          <p:cNvPr id="7" name="Text 3"/>
          <p:cNvSpPr txBox="1"/>
          <p:nvPr/>
        </p:nvSpPr>
        <p:spPr>
          <a:xfrm>
            <a:off x="4663440" y="1097280"/>
            <a:ext cx="4023360" cy="594360"/>
          </a:xfrm>
          <a:prstGeom prst="rect">
            <a:avLst/>
          </a:prstGeom>
          <a:noFill/>
          <a:ln/>
        </p:spPr>
        <p:txBody>
          <a:bodyPr wrap="square" lIns="0" tIns="0" rIns="0" bIns="0" rtlCol="0" anchor="ctr"/>
          <a:lstStyle/>
          <a:p>
            <a:pPr algn="ctr" indent="0" marL="0">
              <a:buNone/>
            </a:pPr>
            <a:r>
              <a:rPr lang="en-US" sz="1400" b="1" dirty="0">
                <a:solidFill>
                  <a:srgbClr val="1F2A37"/>
                </a:solidFill>
                <a:latin typeface="Calibri" pitchFamily="34" charset="0"/>
                <a:ea typeface="Calibri" pitchFamily="34" charset="-122"/>
                <a:cs typeface="Calibri" pitchFamily="34" charset="-120"/>
              </a:rPr>
              <a:t>PM2.5</a:t>
            </a:r>
            <a:endParaRPr lang="en-US" sz="1400" dirty="0"/>
          </a:p>
        </p:txBody>
      </p:sp>
      <p:sp>
        <p:nvSpPr>
          <p:cNvPr id="8" name="Text 4"/>
          <p:cNvSpPr txBox="1"/>
          <p:nvPr/>
        </p:nvSpPr>
        <p:spPr>
          <a:xfrm>
            <a:off x="4663440" y="1691640"/>
            <a:ext cx="4023360" cy="274320"/>
          </a:xfrm>
          <a:prstGeom prst="rect">
            <a:avLst/>
          </a:prstGeom>
          <a:noFill/>
          <a:ln/>
        </p:spPr>
        <p:txBody>
          <a:bodyPr wrap="square" lIns="0" tIns="0" rIns="0" bIns="0" rtlCol="0" anchor="t"/>
          <a:lstStyle/>
          <a:p>
            <a:pPr algn="ctr" indent="0" marL="0">
              <a:buNone/>
            </a:pPr>
            <a:r>
              <a:rPr lang="en-US" sz="1400" dirty="0">
                <a:solidFill>
                  <a:srgbClr val="E8871E"/>
                </a:solidFill>
                <a:latin typeface="Calibri" pitchFamily="34" charset="0"/>
                <a:ea typeface="Calibri" pitchFamily="34" charset="-122"/>
                <a:cs typeface="Calibri" pitchFamily="34" charset="-120"/>
              </a:rPr>
              <a:t>↓</a:t>
            </a:r>
            <a:endParaRPr lang="en-US" sz="1400" dirty="0"/>
          </a:p>
        </p:txBody>
      </p:sp>
      <p:sp>
        <p:nvSpPr>
          <p:cNvPr id="9" name="Shape 5"/>
          <p:cNvSpPr/>
          <p:nvPr/>
        </p:nvSpPr>
        <p:spPr>
          <a:xfrm>
            <a:off x="4663440" y="1965960"/>
            <a:ext cx="4023360" cy="594360"/>
          </a:xfrm>
          <a:prstGeom prst="roundRect">
            <a:avLst>
              <a:gd name="adj" fmla="val 15385"/>
            </a:avLst>
          </a:prstGeom>
          <a:solidFill>
            <a:srgbClr val="FFF1DF"/>
          </a:solidFill>
          <a:ln w="9525">
            <a:solidFill>
              <a:srgbClr val="E8871E"/>
            </a:solidFill>
            <a:prstDash val="solid"/>
          </a:ln>
        </p:spPr>
      </p:sp>
      <p:sp>
        <p:nvSpPr>
          <p:cNvPr id="10" name="Text 6"/>
          <p:cNvSpPr txBox="1"/>
          <p:nvPr/>
        </p:nvSpPr>
        <p:spPr>
          <a:xfrm>
            <a:off x="4663440" y="1965960"/>
            <a:ext cx="4023360" cy="594360"/>
          </a:xfrm>
          <a:prstGeom prst="rect">
            <a:avLst/>
          </a:prstGeom>
          <a:noFill/>
          <a:ln/>
        </p:spPr>
        <p:txBody>
          <a:bodyPr wrap="square" lIns="0" tIns="0" rIns="0" bIns="0" rtlCol="0" anchor="ctr"/>
          <a:lstStyle/>
          <a:p>
            <a:pPr algn="ctr" indent="0" marL="0">
              <a:buNone/>
            </a:pPr>
            <a:r>
              <a:rPr lang="en-US" sz="1400" b="1" dirty="0">
                <a:solidFill>
                  <a:srgbClr val="E8871E"/>
                </a:solidFill>
                <a:latin typeface="Calibri" pitchFamily="34" charset="0"/>
                <a:ea typeface="Calibri" pitchFamily="34" charset="-122"/>
                <a:cs typeface="Calibri" pitchFamily="34" charset="-120"/>
              </a:rPr>
              <a:t>Risk interpretation</a:t>
            </a:r>
            <a:endParaRPr lang="en-US" sz="1400" dirty="0"/>
          </a:p>
        </p:txBody>
      </p:sp>
      <p:sp>
        <p:nvSpPr>
          <p:cNvPr id="11" name="Text 7"/>
          <p:cNvSpPr txBox="1"/>
          <p:nvPr/>
        </p:nvSpPr>
        <p:spPr>
          <a:xfrm>
            <a:off x="4663440" y="2560320"/>
            <a:ext cx="4023360" cy="274320"/>
          </a:xfrm>
          <a:prstGeom prst="rect">
            <a:avLst/>
          </a:prstGeom>
          <a:noFill/>
          <a:ln/>
        </p:spPr>
        <p:txBody>
          <a:bodyPr wrap="square" lIns="0" tIns="0" rIns="0" bIns="0" rtlCol="0" anchor="t"/>
          <a:lstStyle/>
          <a:p>
            <a:pPr algn="ctr" indent="0" marL="0">
              <a:buNone/>
            </a:pPr>
            <a:r>
              <a:rPr lang="en-US" sz="1400" dirty="0">
                <a:solidFill>
                  <a:srgbClr val="E8871E"/>
                </a:solidFill>
                <a:latin typeface="Calibri" pitchFamily="34" charset="0"/>
                <a:ea typeface="Calibri" pitchFamily="34" charset="-122"/>
                <a:cs typeface="Calibri" pitchFamily="34" charset="-120"/>
              </a:rPr>
              <a:t>↓</a:t>
            </a:r>
            <a:endParaRPr lang="en-US" sz="1400" dirty="0"/>
          </a:p>
        </p:txBody>
      </p:sp>
      <p:sp>
        <p:nvSpPr>
          <p:cNvPr id="12" name="Shape 8"/>
          <p:cNvSpPr/>
          <p:nvPr/>
        </p:nvSpPr>
        <p:spPr>
          <a:xfrm>
            <a:off x="4663440" y="2834640"/>
            <a:ext cx="4023360" cy="594360"/>
          </a:xfrm>
          <a:prstGeom prst="roundRect">
            <a:avLst>
              <a:gd name="adj" fmla="val 15385"/>
            </a:avLst>
          </a:prstGeom>
          <a:solidFill>
            <a:srgbClr val="E3F2EE"/>
          </a:solidFill>
          <a:ln w="9525">
            <a:solidFill>
              <a:srgbClr val="1F8A70"/>
            </a:solidFill>
            <a:prstDash val="solid"/>
          </a:ln>
        </p:spPr>
      </p:sp>
      <p:sp>
        <p:nvSpPr>
          <p:cNvPr id="13" name="Text 9"/>
          <p:cNvSpPr txBox="1"/>
          <p:nvPr/>
        </p:nvSpPr>
        <p:spPr>
          <a:xfrm>
            <a:off x="4663440" y="2834640"/>
            <a:ext cx="4023360" cy="594360"/>
          </a:xfrm>
          <a:prstGeom prst="rect">
            <a:avLst/>
          </a:prstGeom>
          <a:noFill/>
          <a:ln/>
        </p:spPr>
        <p:txBody>
          <a:bodyPr wrap="square" lIns="0" tIns="0" rIns="0" bIns="0" rtlCol="0" anchor="ctr"/>
          <a:lstStyle/>
          <a:p>
            <a:pPr algn="ctr" indent="0" marL="0">
              <a:buNone/>
            </a:pPr>
            <a:r>
              <a:rPr lang="en-US" sz="1400" b="1" dirty="0">
                <a:solidFill>
                  <a:srgbClr val="1F8A70"/>
                </a:solidFill>
                <a:latin typeface="Calibri" pitchFamily="34" charset="0"/>
                <a:ea typeface="Calibri" pitchFamily="34" charset="-122"/>
                <a:cs typeface="Calibri" pitchFamily="34" charset="-120"/>
              </a:rPr>
              <a:t>Mask · exercise · outdoor guidance</a:t>
            </a:r>
            <a:endParaRPr lang="en-US" sz="1400" dirty="0"/>
          </a:p>
        </p:txBody>
      </p:sp>
      <p:sp>
        <p:nvSpPr>
          <p:cNvPr id="14" name="Text 10"/>
          <p:cNvSpPr txBox="1"/>
          <p:nvPr/>
        </p:nvSpPr>
        <p:spPr>
          <a:xfrm>
            <a:off x="4663440" y="3429000"/>
            <a:ext cx="4023360" cy="274320"/>
          </a:xfrm>
          <a:prstGeom prst="rect">
            <a:avLst/>
          </a:prstGeom>
          <a:noFill/>
          <a:ln/>
        </p:spPr>
        <p:txBody>
          <a:bodyPr wrap="square" lIns="0" tIns="0" rIns="0" bIns="0" rtlCol="0" anchor="t"/>
          <a:lstStyle/>
          <a:p>
            <a:pPr algn="ctr" indent="0" marL="0">
              <a:buNone/>
            </a:pPr>
            <a:r>
              <a:rPr lang="en-US" sz="1400" dirty="0">
                <a:solidFill>
                  <a:srgbClr val="E8871E"/>
                </a:solidFill>
                <a:latin typeface="Calibri" pitchFamily="34" charset="0"/>
                <a:ea typeface="Calibri" pitchFamily="34" charset="-122"/>
                <a:cs typeface="Calibri" pitchFamily="34" charset="-120"/>
              </a:rPr>
              <a:t>↓</a:t>
            </a:r>
            <a:endParaRPr lang="en-US" sz="1400" dirty="0"/>
          </a:p>
        </p:txBody>
      </p:sp>
      <p:sp>
        <p:nvSpPr>
          <p:cNvPr id="15" name="Shape 11"/>
          <p:cNvSpPr/>
          <p:nvPr/>
        </p:nvSpPr>
        <p:spPr>
          <a:xfrm>
            <a:off x="4663440" y="3703320"/>
            <a:ext cx="4023360" cy="594360"/>
          </a:xfrm>
          <a:prstGeom prst="roundRect">
            <a:avLst>
              <a:gd name="adj" fmla="val 15385"/>
            </a:avLst>
          </a:prstGeom>
          <a:solidFill>
            <a:srgbClr val="FFFFFF"/>
          </a:solidFill>
          <a:ln w="9525">
            <a:solidFill>
              <a:srgbClr val="D64545"/>
            </a:solidFill>
            <a:prstDash val="solid"/>
          </a:ln>
        </p:spPr>
      </p:sp>
      <p:sp>
        <p:nvSpPr>
          <p:cNvPr id="16" name="Text 12"/>
          <p:cNvSpPr txBox="1"/>
          <p:nvPr/>
        </p:nvSpPr>
        <p:spPr>
          <a:xfrm>
            <a:off x="4663440" y="3703320"/>
            <a:ext cx="4023360" cy="594360"/>
          </a:xfrm>
          <a:prstGeom prst="rect">
            <a:avLst/>
          </a:prstGeom>
          <a:noFill/>
          <a:ln/>
        </p:spPr>
        <p:txBody>
          <a:bodyPr wrap="square" lIns="0" tIns="0" rIns="0" bIns="0" rtlCol="0" anchor="ctr"/>
          <a:lstStyle/>
          <a:p>
            <a:pPr algn="ctr" indent="0" marL="0">
              <a:buNone/>
            </a:pPr>
            <a:r>
              <a:rPr lang="en-US" sz="1400" b="1" dirty="0">
                <a:solidFill>
                  <a:srgbClr val="D64545"/>
                </a:solidFill>
                <a:latin typeface="Calibri" pitchFamily="34" charset="0"/>
                <a:ea typeface="Calibri" pitchFamily="34" charset="-122"/>
                <a:cs typeface="Calibri" pitchFamily="34" charset="-120"/>
              </a:rPr>
              <a:t>ACTION</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F2A37"/>
                </a:solidFill>
                <a:latin typeface="Calibri" pitchFamily="34" charset="0"/>
                <a:ea typeface="Calibri" pitchFamily="34" charset="-122"/>
                <a:cs typeface="Calibri" pitchFamily="34" charset="-120"/>
              </a:rPr>
              <a:t>Ask the Air-Quality System Anything</a:t>
            </a:r>
            <a:endParaRPr lang="en-US" sz="2400" dirty="0"/>
          </a:p>
        </p:txBody>
      </p:sp>
      <p:sp>
        <p:nvSpPr>
          <p:cNvPr id="4" name="[FULL DECISION ASSISTANT SCREENSHOT]"/>
          <p:cNvSpPr/>
          <p:nvPr/>
        </p:nvSpPr>
        <p:spPr>
          <a:xfrm>
            <a:off x="457200" y="1051560"/>
            <a:ext cx="5212080" cy="3611880"/>
          </a:xfrm>
          <a:prstGeom prst="roundRect">
            <a:avLst>
              <a:gd name="adj" fmla="val 2532"/>
            </a:avLst>
          </a:prstGeom>
          <a:solidFill>
            <a:srgbClr val="FFFFFF"/>
          </a:solidFill>
          <a:ln w="9525">
            <a:solidFill>
              <a:srgbClr val="DDE5EA"/>
            </a:solidFill>
            <a:prstDash val="solid"/>
          </a:ln>
        </p:spPr>
      </p:sp>
      <p:pic>
        <p:nvPicPr>
          <p:cNvPr id="5" name="[FULL DECISION ASSISTANT SCREENSHOT]" descr="[FULL DECISION ASSISTANT SCREENSHOT]">    </p:cNvPr>
          <p:cNvPicPr>
            <a:picLocks noChangeAspect="1"/>
          </p:cNvPicPr>
          <p:nvPr/>
        </p:nvPicPr>
        <p:blipFill>
          <a:blip r:embed="rId1"/>
          <a:stretch>
            <a:fillRect/>
          </a:stretch>
        </p:blipFill>
        <p:spPr>
          <a:xfrm>
            <a:off x="694755" y="1143000"/>
            <a:ext cx="4736969" cy="3429000"/>
          </a:xfrm>
          <a:prstGeom prst="rect">
            <a:avLst/>
          </a:prstGeom>
        </p:spPr>
      </p:pic>
      <p:sp>
        <p:nvSpPr>
          <p:cNvPr id="6" name="Shape 2"/>
          <p:cNvSpPr/>
          <p:nvPr/>
        </p:nvSpPr>
        <p:spPr>
          <a:xfrm>
            <a:off x="5943600" y="1051560"/>
            <a:ext cx="2743200" cy="475488"/>
          </a:xfrm>
          <a:prstGeom prst="roundRect">
            <a:avLst>
              <a:gd name="adj" fmla="val 19231"/>
            </a:avLst>
          </a:prstGeom>
          <a:solidFill>
            <a:srgbClr val="FFFFFF"/>
          </a:solidFill>
          <a:ln w="9525">
            <a:solidFill>
              <a:srgbClr val="1F8A70"/>
            </a:solidFill>
            <a:prstDash val="solid"/>
          </a:ln>
        </p:spPr>
      </p:sp>
      <p:sp>
        <p:nvSpPr>
          <p:cNvPr id="7" name="Text 3"/>
          <p:cNvSpPr txBox="1"/>
          <p:nvPr/>
        </p:nvSpPr>
        <p:spPr>
          <a:xfrm>
            <a:off x="6080760" y="1051560"/>
            <a:ext cx="2560320" cy="475488"/>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Conversational interaction</a:t>
            </a:r>
            <a:endParaRPr lang="en-US" sz="1200" dirty="0"/>
          </a:p>
        </p:txBody>
      </p:sp>
      <p:sp>
        <p:nvSpPr>
          <p:cNvPr id="8" name="Shape 4"/>
          <p:cNvSpPr/>
          <p:nvPr/>
        </p:nvSpPr>
        <p:spPr>
          <a:xfrm>
            <a:off x="5943600" y="1655064"/>
            <a:ext cx="2743200" cy="475488"/>
          </a:xfrm>
          <a:prstGeom prst="roundRect">
            <a:avLst>
              <a:gd name="adj" fmla="val 19231"/>
            </a:avLst>
          </a:prstGeom>
          <a:solidFill>
            <a:srgbClr val="FFFFFF"/>
          </a:solidFill>
          <a:ln w="9525">
            <a:solidFill>
              <a:srgbClr val="1F8A70"/>
            </a:solidFill>
            <a:prstDash val="solid"/>
          </a:ln>
        </p:spPr>
      </p:sp>
      <p:sp>
        <p:nvSpPr>
          <p:cNvPr id="9" name="Text 5"/>
          <p:cNvSpPr txBox="1"/>
          <p:nvPr/>
        </p:nvSpPr>
        <p:spPr>
          <a:xfrm>
            <a:off x="6080760" y="1655064"/>
            <a:ext cx="2560320" cy="475488"/>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Lahore vs Karachi comparison</a:t>
            </a:r>
            <a:endParaRPr lang="en-US" sz="1200" dirty="0"/>
          </a:p>
        </p:txBody>
      </p:sp>
      <p:sp>
        <p:nvSpPr>
          <p:cNvPr id="10" name="Shape 6"/>
          <p:cNvSpPr/>
          <p:nvPr/>
        </p:nvSpPr>
        <p:spPr>
          <a:xfrm>
            <a:off x="5943600" y="2258568"/>
            <a:ext cx="2743200" cy="475488"/>
          </a:xfrm>
          <a:prstGeom prst="roundRect">
            <a:avLst>
              <a:gd name="adj" fmla="val 19231"/>
            </a:avLst>
          </a:prstGeom>
          <a:solidFill>
            <a:srgbClr val="FFFFFF"/>
          </a:solidFill>
          <a:ln w="9525">
            <a:solidFill>
              <a:srgbClr val="1F8A70"/>
            </a:solidFill>
            <a:prstDash val="solid"/>
          </a:ln>
        </p:spPr>
      </p:sp>
      <p:sp>
        <p:nvSpPr>
          <p:cNvPr id="11" name="Text 7"/>
          <p:cNvSpPr txBox="1"/>
          <p:nvPr/>
        </p:nvSpPr>
        <p:spPr>
          <a:xfrm>
            <a:off x="6080760" y="2258568"/>
            <a:ext cx="2560320" cy="475488"/>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Tomorrow’s forecast</a:t>
            </a:r>
            <a:endParaRPr lang="en-US" sz="1200" dirty="0"/>
          </a:p>
        </p:txBody>
      </p:sp>
      <p:sp>
        <p:nvSpPr>
          <p:cNvPr id="12" name="Shape 8"/>
          <p:cNvSpPr/>
          <p:nvPr/>
        </p:nvSpPr>
        <p:spPr>
          <a:xfrm>
            <a:off x="5943600" y="2862072"/>
            <a:ext cx="2743200" cy="475488"/>
          </a:xfrm>
          <a:prstGeom prst="roundRect">
            <a:avLst>
              <a:gd name="adj" fmla="val 19231"/>
            </a:avLst>
          </a:prstGeom>
          <a:solidFill>
            <a:srgbClr val="FFFFFF"/>
          </a:solidFill>
          <a:ln w="9525">
            <a:solidFill>
              <a:srgbClr val="1F8A70"/>
            </a:solidFill>
            <a:prstDash val="solid"/>
          </a:ln>
        </p:spPr>
      </p:sp>
      <p:sp>
        <p:nvSpPr>
          <p:cNvPr id="13" name="Text 9"/>
          <p:cNvSpPr txBox="1"/>
          <p:nvPr/>
        </p:nvSpPr>
        <p:spPr>
          <a:xfrm>
            <a:off x="6080760" y="2862072"/>
            <a:ext cx="2560320" cy="475488"/>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School &amp; mask guidance</a:t>
            </a:r>
            <a:endParaRPr lang="en-US" sz="1200" dirty="0"/>
          </a:p>
        </p:txBody>
      </p:sp>
      <p:sp>
        <p:nvSpPr>
          <p:cNvPr id="14" name="Shape 10"/>
          <p:cNvSpPr/>
          <p:nvPr/>
        </p:nvSpPr>
        <p:spPr>
          <a:xfrm>
            <a:off x="5943600" y="3465576"/>
            <a:ext cx="2743200" cy="475488"/>
          </a:xfrm>
          <a:prstGeom prst="roundRect">
            <a:avLst>
              <a:gd name="adj" fmla="val 19231"/>
            </a:avLst>
          </a:prstGeom>
          <a:solidFill>
            <a:srgbClr val="FFFFFF"/>
          </a:solidFill>
          <a:ln w="9525">
            <a:solidFill>
              <a:srgbClr val="1F8A70"/>
            </a:solidFill>
            <a:prstDash val="solid"/>
          </a:ln>
        </p:spPr>
      </p:sp>
      <p:sp>
        <p:nvSpPr>
          <p:cNvPr id="15" name="Text 11"/>
          <p:cNvSpPr txBox="1"/>
          <p:nvPr/>
        </p:nvSpPr>
        <p:spPr>
          <a:xfrm>
            <a:off x="6080760" y="3465576"/>
            <a:ext cx="2560320" cy="475488"/>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Grounded in trusted sources</a:t>
            </a:r>
            <a:endParaRPr lang="en-US" sz="1200" dirty="0"/>
          </a:p>
        </p:txBody>
      </p:sp>
      <p:sp>
        <p:nvSpPr>
          <p:cNvPr id="16" name="Shape 12"/>
          <p:cNvSpPr/>
          <p:nvPr/>
        </p:nvSpPr>
        <p:spPr>
          <a:xfrm>
            <a:off x="5943600" y="4069080"/>
            <a:ext cx="2743200" cy="475488"/>
          </a:xfrm>
          <a:prstGeom prst="roundRect">
            <a:avLst>
              <a:gd name="adj" fmla="val 19231"/>
            </a:avLst>
          </a:prstGeom>
          <a:solidFill>
            <a:srgbClr val="FFFFFF"/>
          </a:solidFill>
          <a:ln w="9525">
            <a:solidFill>
              <a:srgbClr val="1F8A70"/>
            </a:solidFill>
            <a:prstDash val="solid"/>
          </a:ln>
        </p:spPr>
      </p:sp>
      <p:sp>
        <p:nvSpPr>
          <p:cNvPr id="17" name="Text 13"/>
          <p:cNvSpPr txBox="1"/>
          <p:nvPr/>
        </p:nvSpPr>
        <p:spPr>
          <a:xfrm>
            <a:off x="6080760" y="4069080"/>
            <a:ext cx="2560320" cy="475488"/>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No invented numbers</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F2A37"/>
                </a:solidFill>
                <a:latin typeface="Calibri" pitchFamily="34" charset="0"/>
                <a:ea typeface="Calibri" pitchFamily="34" charset="-122"/>
                <a:cs typeface="Calibri" pitchFamily="34" charset="-120"/>
              </a:rPr>
              <a:t>From One-Time Demo to Automated System</a:t>
            </a:r>
            <a:endParaRPr lang="en-US" sz="2400" dirty="0"/>
          </a:p>
        </p:txBody>
      </p:sp>
      <p:sp>
        <p:nvSpPr>
          <p:cNvPr id="4" name="Shape 1"/>
          <p:cNvSpPr/>
          <p:nvPr/>
        </p:nvSpPr>
        <p:spPr>
          <a:xfrm>
            <a:off x="457200" y="1554480"/>
            <a:ext cx="1143000" cy="1005840"/>
          </a:xfrm>
          <a:prstGeom prst="roundRect">
            <a:avLst>
              <a:gd name="adj" fmla="val 9091"/>
            </a:avLst>
          </a:prstGeom>
          <a:solidFill>
            <a:srgbClr val="E3F2EE"/>
          </a:solidFill>
          <a:ln w="9525">
            <a:solidFill>
              <a:srgbClr val="DDE5EA"/>
            </a:solidFill>
            <a:prstDash val="solid"/>
          </a:ln>
        </p:spPr>
      </p:sp>
      <p:sp>
        <p:nvSpPr>
          <p:cNvPr id="5" name="Text 2"/>
          <p:cNvSpPr txBox="1"/>
          <p:nvPr/>
        </p:nvSpPr>
        <p:spPr>
          <a:xfrm>
            <a:off x="530352" y="1627632"/>
            <a:ext cx="996696" cy="859536"/>
          </a:xfrm>
          <a:prstGeom prst="rect">
            <a:avLst/>
          </a:prstGeom>
          <a:noFill/>
          <a:ln/>
        </p:spPr>
        <p:txBody>
          <a:bodyPr wrap="square" lIns="0" tIns="0" rIns="0" bIns="0" rtlCol="0" anchor="ctr"/>
          <a:lstStyle/>
          <a:p>
            <a:pPr algn="ctr" indent="0" marL="0">
              <a:buNone/>
            </a:pPr>
            <a:r>
              <a:rPr lang="en-US" sz="1000" b="1" dirty="0">
                <a:solidFill>
                  <a:srgbClr val="1F2A37"/>
                </a:solidFill>
                <a:latin typeface="Calibri" pitchFamily="34" charset="0"/>
                <a:ea typeface="Calibri" pitchFamily="34" charset="-122"/>
                <a:cs typeface="Calibri" pitchFamily="34" charset="-120"/>
              </a:rPr>
              <a:t>INGEST</a:t>
            </a:r>
            <a:endParaRPr lang="en-US" sz="1000" dirty="0"/>
          </a:p>
        </p:txBody>
      </p:sp>
      <p:sp>
        <p:nvSpPr>
          <p:cNvPr id="6" name="Text 3"/>
          <p:cNvSpPr txBox="1"/>
          <p:nvPr/>
        </p:nvSpPr>
        <p:spPr>
          <a:xfrm>
            <a:off x="1600200" y="1554480"/>
            <a:ext cx="274320" cy="100584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7" name="Shape 4"/>
          <p:cNvSpPr/>
          <p:nvPr/>
        </p:nvSpPr>
        <p:spPr>
          <a:xfrm>
            <a:off x="1874520" y="1554480"/>
            <a:ext cx="1143000" cy="1005840"/>
          </a:xfrm>
          <a:prstGeom prst="roundRect">
            <a:avLst>
              <a:gd name="adj" fmla="val 9091"/>
            </a:avLst>
          </a:prstGeom>
          <a:solidFill>
            <a:srgbClr val="E3F2EE"/>
          </a:solidFill>
          <a:ln w="9525">
            <a:solidFill>
              <a:srgbClr val="DDE5EA"/>
            </a:solidFill>
            <a:prstDash val="solid"/>
          </a:ln>
        </p:spPr>
      </p:sp>
      <p:sp>
        <p:nvSpPr>
          <p:cNvPr id="8" name="Text 5"/>
          <p:cNvSpPr txBox="1"/>
          <p:nvPr/>
        </p:nvSpPr>
        <p:spPr>
          <a:xfrm>
            <a:off x="1947672" y="1627632"/>
            <a:ext cx="996696" cy="859536"/>
          </a:xfrm>
          <a:prstGeom prst="rect">
            <a:avLst/>
          </a:prstGeom>
          <a:noFill/>
          <a:ln/>
        </p:spPr>
        <p:txBody>
          <a:bodyPr wrap="square" lIns="0" tIns="0" rIns="0" bIns="0" rtlCol="0" anchor="ctr"/>
          <a:lstStyle/>
          <a:p>
            <a:pPr algn="ctr" indent="0" marL="0">
              <a:buNone/>
            </a:pPr>
            <a:r>
              <a:rPr lang="en-US" sz="1000" b="1" dirty="0">
                <a:solidFill>
                  <a:srgbClr val="1F2A37"/>
                </a:solidFill>
                <a:latin typeface="Calibri" pitchFamily="34" charset="0"/>
                <a:ea typeface="Calibri" pitchFamily="34" charset="-122"/>
                <a:cs typeface="Calibri" pitchFamily="34" charset="-120"/>
              </a:rPr>
              <a:t>VALIDATE</a:t>
            </a:r>
            <a:endParaRPr lang="en-US" sz="1000" dirty="0"/>
          </a:p>
        </p:txBody>
      </p:sp>
      <p:sp>
        <p:nvSpPr>
          <p:cNvPr id="9" name="Text 6"/>
          <p:cNvSpPr txBox="1"/>
          <p:nvPr/>
        </p:nvSpPr>
        <p:spPr>
          <a:xfrm>
            <a:off x="3017520" y="1554480"/>
            <a:ext cx="274320" cy="100584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3291840" y="1554480"/>
            <a:ext cx="1143000" cy="1005840"/>
          </a:xfrm>
          <a:prstGeom prst="roundRect">
            <a:avLst>
              <a:gd name="adj" fmla="val 9091"/>
            </a:avLst>
          </a:prstGeom>
          <a:solidFill>
            <a:srgbClr val="FFF1DF"/>
          </a:solidFill>
          <a:ln w="9525">
            <a:solidFill>
              <a:srgbClr val="DDE5EA"/>
            </a:solidFill>
            <a:prstDash val="solid"/>
          </a:ln>
        </p:spPr>
      </p:sp>
      <p:sp>
        <p:nvSpPr>
          <p:cNvPr id="11" name="Text 8"/>
          <p:cNvSpPr txBox="1"/>
          <p:nvPr/>
        </p:nvSpPr>
        <p:spPr>
          <a:xfrm>
            <a:off x="3364992" y="1627632"/>
            <a:ext cx="996696" cy="859536"/>
          </a:xfrm>
          <a:prstGeom prst="rect">
            <a:avLst/>
          </a:prstGeom>
          <a:noFill/>
          <a:ln/>
        </p:spPr>
        <p:txBody>
          <a:bodyPr wrap="square" lIns="0" tIns="0" rIns="0" bIns="0" rtlCol="0" anchor="ctr"/>
          <a:lstStyle/>
          <a:p>
            <a:pPr algn="ctr" indent="0" marL="0">
              <a:buNone/>
            </a:pPr>
            <a:r>
              <a:rPr lang="en-US" sz="1000" b="1" dirty="0">
                <a:solidFill>
                  <a:srgbClr val="1F2A37"/>
                </a:solidFill>
                <a:latin typeface="Calibri" pitchFamily="34" charset="0"/>
                <a:ea typeface="Calibri" pitchFamily="34" charset="-122"/>
                <a:cs typeface="Calibri" pitchFamily="34" charset="-120"/>
              </a:rPr>
              <a:t>FORECAST</a:t>
            </a:r>
            <a:endParaRPr lang="en-US" sz="1000" dirty="0"/>
          </a:p>
        </p:txBody>
      </p:sp>
      <p:sp>
        <p:nvSpPr>
          <p:cNvPr id="12" name="Text 9"/>
          <p:cNvSpPr txBox="1"/>
          <p:nvPr/>
        </p:nvSpPr>
        <p:spPr>
          <a:xfrm>
            <a:off x="4434840" y="1554480"/>
            <a:ext cx="274320" cy="100584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3" name="Shape 10"/>
          <p:cNvSpPr/>
          <p:nvPr/>
        </p:nvSpPr>
        <p:spPr>
          <a:xfrm>
            <a:off x="4709160" y="1554480"/>
            <a:ext cx="1143000" cy="1005840"/>
          </a:xfrm>
          <a:prstGeom prst="roundRect">
            <a:avLst>
              <a:gd name="adj" fmla="val 9091"/>
            </a:avLst>
          </a:prstGeom>
          <a:solidFill>
            <a:srgbClr val="FFF1DF"/>
          </a:solidFill>
          <a:ln w="9525">
            <a:solidFill>
              <a:srgbClr val="DDE5EA"/>
            </a:solidFill>
            <a:prstDash val="solid"/>
          </a:ln>
        </p:spPr>
      </p:sp>
      <p:sp>
        <p:nvSpPr>
          <p:cNvPr id="14" name="Text 11"/>
          <p:cNvSpPr txBox="1"/>
          <p:nvPr/>
        </p:nvSpPr>
        <p:spPr>
          <a:xfrm>
            <a:off x="4782312" y="1627632"/>
            <a:ext cx="996696" cy="859536"/>
          </a:xfrm>
          <a:prstGeom prst="rect">
            <a:avLst/>
          </a:prstGeom>
          <a:noFill/>
          <a:ln/>
        </p:spPr>
        <p:txBody>
          <a:bodyPr wrap="square" lIns="0" tIns="0" rIns="0" bIns="0" rtlCol="0" anchor="ctr"/>
          <a:lstStyle/>
          <a:p>
            <a:pPr algn="ctr" indent="0" marL="0">
              <a:buNone/>
            </a:pPr>
            <a:r>
              <a:rPr lang="en-US" sz="1000" b="1" dirty="0">
                <a:solidFill>
                  <a:srgbClr val="1F2A37"/>
                </a:solidFill>
                <a:latin typeface="Calibri" pitchFamily="34" charset="0"/>
                <a:ea typeface="Calibri" pitchFamily="34" charset="-122"/>
                <a:cs typeface="Calibri" pitchFamily="34" charset="-120"/>
              </a:rPr>
              <a:t>GENERATE INSIGHTS</a:t>
            </a:r>
            <a:endParaRPr lang="en-US" sz="1000" dirty="0"/>
          </a:p>
        </p:txBody>
      </p:sp>
      <p:sp>
        <p:nvSpPr>
          <p:cNvPr id="15" name="Text 12"/>
          <p:cNvSpPr txBox="1"/>
          <p:nvPr/>
        </p:nvSpPr>
        <p:spPr>
          <a:xfrm>
            <a:off x="5852160" y="1554480"/>
            <a:ext cx="274320" cy="100584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6" name="Shape 13"/>
          <p:cNvSpPr/>
          <p:nvPr/>
        </p:nvSpPr>
        <p:spPr>
          <a:xfrm>
            <a:off x="6126480" y="1554480"/>
            <a:ext cx="1143000" cy="1005840"/>
          </a:xfrm>
          <a:prstGeom prst="roundRect">
            <a:avLst>
              <a:gd name="adj" fmla="val 9091"/>
            </a:avLst>
          </a:prstGeom>
          <a:solidFill>
            <a:srgbClr val="FFFFFF"/>
          </a:solidFill>
          <a:ln w="9525">
            <a:solidFill>
              <a:srgbClr val="DDE5EA"/>
            </a:solidFill>
            <a:prstDash val="solid"/>
          </a:ln>
        </p:spPr>
      </p:sp>
      <p:sp>
        <p:nvSpPr>
          <p:cNvPr id="17" name="Text 14"/>
          <p:cNvSpPr txBox="1"/>
          <p:nvPr/>
        </p:nvSpPr>
        <p:spPr>
          <a:xfrm>
            <a:off x="6199632" y="1627632"/>
            <a:ext cx="996696" cy="859536"/>
          </a:xfrm>
          <a:prstGeom prst="rect">
            <a:avLst/>
          </a:prstGeom>
          <a:noFill/>
          <a:ln/>
        </p:spPr>
        <p:txBody>
          <a:bodyPr wrap="square" lIns="0" tIns="0" rIns="0" bIns="0" rtlCol="0" anchor="ctr"/>
          <a:lstStyle/>
          <a:p>
            <a:pPr algn="ctr" indent="0" marL="0">
              <a:buNone/>
            </a:pPr>
            <a:r>
              <a:rPr lang="en-US" sz="1000" b="1" dirty="0">
                <a:solidFill>
                  <a:srgbClr val="1F2A37"/>
                </a:solidFill>
                <a:latin typeface="Calibri" pitchFamily="34" charset="0"/>
                <a:ea typeface="Calibri" pitchFamily="34" charset="-122"/>
                <a:cs typeface="Calibri" pitchFamily="34" charset="-120"/>
              </a:rPr>
              <a:t>LOG</a:t>
            </a:r>
            <a:endParaRPr lang="en-US" sz="1000" dirty="0"/>
          </a:p>
        </p:txBody>
      </p:sp>
      <p:sp>
        <p:nvSpPr>
          <p:cNvPr id="18" name="Text 15"/>
          <p:cNvSpPr txBox="1"/>
          <p:nvPr/>
        </p:nvSpPr>
        <p:spPr>
          <a:xfrm>
            <a:off x="7269480" y="1554480"/>
            <a:ext cx="274320" cy="1005840"/>
          </a:xfrm>
          <a:prstGeom prst="rect">
            <a:avLst/>
          </a:prstGeom>
          <a:noFill/>
          <a:ln/>
        </p:spPr>
        <p:txBody>
          <a:bodyPr wrap="square" lIns="0" tIns="0" rIns="0" bIns="0" rtlCol="0" anchor="ctr"/>
          <a:lstStyle/>
          <a:p>
            <a:pPr algn="ctr" indent="0" marL="0">
              <a:buNone/>
            </a:pPr>
            <a:r>
              <a:rPr lang="en-US" sz="1600" dirty="0">
                <a:solidFill>
                  <a:srgbClr val="E8871E"/>
                </a:solidFill>
                <a:latin typeface="Calibri" pitchFamily="34" charset="0"/>
                <a:ea typeface="Calibri" pitchFamily="34" charset="-122"/>
                <a:cs typeface="Calibri" pitchFamily="34" charset="-120"/>
              </a:rPr>
              <a:t>→</a:t>
            </a:r>
            <a:endParaRPr lang="en-US" sz="1600" dirty="0"/>
          </a:p>
        </p:txBody>
      </p:sp>
      <p:sp>
        <p:nvSpPr>
          <p:cNvPr id="19" name="Shape 16"/>
          <p:cNvSpPr/>
          <p:nvPr/>
        </p:nvSpPr>
        <p:spPr>
          <a:xfrm>
            <a:off x="7543800" y="1554480"/>
            <a:ext cx="1143000" cy="1005840"/>
          </a:xfrm>
          <a:prstGeom prst="roundRect">
            <a:avLst>
              <a:gd name="adj" fmla="val 9091"/>
            </a:avLst>
          </a:prstGeom>
          <a:solidFill>
            <a:srgbClr val="E3F2EE"/>
          </a:solidFill>
          <a:ln w="9525">
            <a:solidFill>
              <a:srgbClr val="3FA66B"/>
            </a:solidFill>
            <a:prstDash val="solid"/>
          </a:ln>
        </p:spPr>
      </p:sp>
      <p:sp>
        <p:nvSpPr>
          <p:cNvPr id="20" name="Text 17"/>
          <p:cNvSpPr txBox="1"/>
          <p:nvPr/>
        </p:nvSpPr>
        <p:spPr>
          <a:xfrm>
            <a:off x="7616952" y="1627632"/>
            <a:ext cx="996696" cy="859536"/>
          </a:xfrm>
          <a:prstGeom prst="rect">
            <a:avLst/>
          </a:prstGeom>
          <a:noFill/>
          <a:ln/>
        </p:spPr>
        <p:txBody>
          <a:bodyPr wrap="square" lIns="0" tIns="0" rIns="0" bIns="0" rtlCol="0" anchor="ctr"/>
          <a:lstStyle/>
          <a:p>
            <a:pPr algn="ctr" indent="0" marL="0">
              <a:buNone/>
            </a:pPr>
            <a:r>
              <a:rPr lang="en-US" sz="1000" b="1" dirty="0">
                <a:solidFill>
                  <a:srgbClr val="3FA66B"/>
                </a:solidFill>
                <a:latin typeface="Calibri" pitchFamily="34" charset="0"/>
                <a:ea typeface="Calibri" pitchFamily="34" charset="-122"/>
                <a:cs typeface="Calibri" pitchFamily="34" charset="-120"/>
              </a:rPr>
              <a:t>UPDATE</a:t>
            </a:r>
            <a:endParaRPr lang="en-US" sz="1000" dirty="0"/>
          </a:p>
        </p:txBody>
      </p:sp>
      <p:sp>
        <p:nvSpPr>
          <p:cNvPr id="21" name="Text 18"/>
          <p:cNvSpPr txBox="1"/>
          <p:nvPr/>
        </p:nvSpPr>
        <p:spPr>
          <a:xfrm>
            <a:off x="457200" y="2926080"/>
            <a:ext cx="8229600" cy="365760"/>
          </a:xfrm>
          <a:prstGeom prst="rect">
            <a:avLst/>
          </a:prstGeom>
          <a:noFill/>
          <a:ln/>
        </p:spPr>
        <p:txBody>
          <a:bodyPr wrap="square" lIns="0" tIns="0" rIns="0" bIns="0" rtlCol="0" anchor="t"/>
          <a:lstStyle/>
          <a:p>
            <a:pPr algn="ctr" indent="0" marL="0">
              <a:buNone/>
            </a:pPr>
            <a:r>
              <a:rPr lang="en-US" sz="1600" b="1" dirty="0">
                <a:solidFill>
                  <a:srgbClr val="1F8A70"/>
                </a:solidFill>
                <a:latin typeface="Calibri" pitchFamily="34" charset="0"/>
                <a:ea typeface="Calibri" pitchFamily="34" charset="-122"/>
                <a:cs typeface="Calibri" pitchFamily="34" charset="-120"/>
              </a:rPr>
              <a:t>Orchestrated with Prefect</a:t>
            </a:r>
            <a:endParaRPr lang="en-US" sz="1600" dirty="0"/>
          </a:p>
        </p:txBody>
      </p:sp>
      <p:sp>
        <p:nvSpPr>
          <p:cNvPr id="22" name="Text 19"/>
          <p:cNvSpPr txBox="1"/>
          <p:nvPr/>
        </p:nvSpPr>
        <p:spPr>
          <a:xfrm>
            <a:off x="457200" y="3383280"/>
            <a:ext cx="8229600" cy="365760"/>
          </a:xfrm>
          <a:prstGeom prst="rect">
            <a:avLst/>
          </a:prstGeom>
          <a:noFill/>
          <a:ln/>
        </p:spPr>
        <p:txBody>
          <a:bodyPr wrap="square" lIns="0" tIns="0" rIns="0" bIns="0" rtlCol="0" anchor="t"/>
          <a:lstStyle/>
          <a:p>
            <a:pPr algn="ctr" indent="0" marL="0">
              <a:buNone/>
            </a:pPr>
            <a:r>
              <a:rPr lang="en-US" sz="1400" dirty="0">
                <a:solidFill>
                  <a:srgbClr val="5B6773"/>
                </a:solidFill>
                <a:latin typeface="Calibri" pitchFamily="34" charset="0"/>
                <a:ea typeface="Calibri" pitchFamily="34" charset="-122"/>
                <a:cs typeface="Calibri" pitchFamily="34" charset="-120"/>
              </a:rPr>
              <a:t>Reproducible · continuously operating · every run logged</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F2A37"/>
                </a:solidFill>
                <a:latin typeface="Calibri" pitchFamily="34" charset="0"/>
                <a:ea typeface="Calibri" pitchFamily="34" charset="-122"/>
                <a:cs typeface="Calibri" pitchFamily="34" charset="-120"/>
              </a:rPr>
              <a:t>See It in Action</a:t>
            </a:r>
            <a:endParaRPr lang="en-US" sz="2400" dirty="0"/>
          </a:p>
        </p:txBody>
      </p:sp>
      <p:sp>
        <p:nvSpPr>
          <p:cNvPr id="4" name="[FINAL DASHBOARD SCREENSHOT]"/>
          <p:cNvSpPr/>
          <p:nvPr/>
        </p:nvSpPr>
        <p:spPr>
          <a:xfrm>
            <a:off x="457200" y="914400"/>
            <a:ext cx="5760720" cy="3749040"/>
          </a:xfrm>
          <a:prstGeom prst="roundRect">
            <a:avLst>
              <a:gd name="adj" fmla="val 2439"/>
            </a:avLst>
          </a:prstGeom>
          <a:solidFill>
            <a:srgbClr val="FFFFFF"/>
          </a:solidFill>
          <a:ln w="9525">
            <a:solidFill>
              <a:srgbClr val="DDE5EA"/>
            </a:solidFill>
            <a:prstDash val="solid"/>
          </a:ln>
        </p:spPr>
      </p:sp>
      <p:pic>
        <p:nvPicPr>
          <p:cNvPr id="5" name="[FINAL DASHBOARD SCREENSHOT]" descr="[FINAL DASHBOARD SCREENSHOT]">    </p:cNvPr>
          <p:cNvPicPr>
            <a:picLocks noChangeAspect="1"/>
          </p:cNvPicPr>
          <p:nvPr/>
        </p:nvPicPr>
        <p:blipFill>
          <a:blip r:embed="rId1"/>
          <a:stretch>
            <a:fillRect/>
          </a:stretch>
        </p:blipFill>
        <p:spPr>
          <a:xfrm>
            <a:off x="657319" y="1005840"/>
            <a:ext cx="5360483" cy="3566160"/>
          </a:xfrm>
          <a:prstGeom prst="rect">
            <a:avLst/>
          </a:prstGeom>
        </p:spPr>
      </p:pic>
      <p:sp>
        <p:nvSpPr>
          <p:cNvPr id="6" name="Text 2"/>
          <p:cNvSpPr txBox="1"/>
          <p:nvPr/>
        </p:nvSpPr>
        <p:spPr>
          <a:xfrm>
            <a:off x="6492240" y="960120"/>
            <a:ext cx="320040" cy="365760"/>
          </a:xfrm>
          <a:prstGeom prst="rect">
            <a:avLst/>
          </a:prstGeom>
          <a:noFill/>
          <a:ln/>
        </p:spPr>
        <p:txBody>
          <a:bodyPr wrap="square" lIns="0" tIns="0" rIns="0" bIns="0" rtlCol="0" anchor="t"/>
          <a:lstStyle/>
          <a:p>
            <a:pPr indent="0" marL="0">
              <a:buNone/>
            </a:pPr>
            <a:r>
              <a:rPr lang="en-US" sz="1600" b="1" dirty="0">
                <a:solidFill>
                  <a:srgbClr val="E8871E"/>
                </a:solidFill>
                <a:latin typeface="Calibri" pitchFamily="34" charset="0"/>
                <a:ea typeface="Calibri" pitchFamily="34" charset="-122"/>
                <a:cs typeface="Calibri" pitchFamily="34" charset="-120"/>
              </a:rPr>
              <a:t>1</a:t>
            </a:r>
            <a:endParaRPr lang="en-US" sz="1600" dirty="0"/>
          </a:p>
        </p:txBody>
      </p:sp>
      <p:sp>
        <p:nvSpPr>
          <p:cNvPr id="7" name="Text 3"/>
          <p:cNvSpPr txBox="1"/>
          <p:nvPr/>
        </p:nvSpPr>
        <p:spPr>
          <a:xfrm>
            <a:off x="6858000" y="1005840"/>
            <a:ext cx="1828800" cy="365760"/>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Lahore / Karachi switch</a:t>
            </a:r>
            <a:endParaRPr lang="en-US" sz="1300" dirty="0"/>
          </a:p>
        </p:txBody>
      </p:sp>
      <p:sp>
        <p:nvSpPr>
          <p:cNvPr id="8" name="Text 4"/>
          <p:cNvSpPr txBox="1"/>
          <p:nvPr/>
        </p:nvSpPr>
        <p:spPr>
          <a:xfrm>
            <a:off x="6492240" y="1490472"/>
            <a:ext cx="320040" cy="365760"/>
          </a:xfrm>
          <a:prstGeom prst="rect">
            <a:avLst/>
          </a:prstGeom>
          <a:noFill/>
          <a:ln/>
        </p:spPr>
        <p:txBody>
          <a:bodyPr wrap="square" lIns="0" tIns="0" rIns="0" bIns="0" rtlCol="0" anchor="t"/>
          <a:lstStyle/>
          <a:p>
            <a:pPr indent="0" marL="0">
              <a:buNone/>
            </a:pPr>
            <a:r>
              <a:rPr lang="en-US" sz="1600" b="1" dirty="0">
                <a:solidFill>
                  <a:srgbClr val="E8871E"/>
                </a:solidFill>
                <a:latin typeface="Calibri" pitchFamily="34" charset="0"/>
                <a:ea typeface="Calibri" pitchFamily="34" charset="-122"/>
                <a:cs typeface="Calibri" pitchFamily="34" charset="-120"/>
              </a:rPr>
              <a:t>2</a:t>
            </a:r>
            <a:endParaRPr lang="en-US" sz="1600" dirty="0"/>
          </a:p>
        </p:txBody>
      </p:sp>
      <p:sp>
        <p:nvSpPr>
          <p:cNvPr id="9" name="Text 5"/>
          <p:cNvSpPr txBox="1"/>
          <p:nvPr/>
        </p:nvSpPr>
        <p:spPr>
          <a:xfrm>
            <a:off x="6858000" y="1536192"/>
            <a:ext cx="1828800" cy="365760"/>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Current nowcast</a:t>
            </a:r>
            <a:endParaRPr lang="en-US" sz="1300" dirty="0"/>
          </a:p>
        </p:txBody>
      </p:sp>
      <p:sp>
        <p:nvSpPr>
          <p:cNvPr id="10" name="Text 6"/>
          <p:cNvSpPr txBox="1"/>
          <p:nvPr/>
        </p:nvSpPr>
        <p:spPr>
          <a:xfrm>
            <a:off x="6492240" y="2020824"/>
            <a:ext cx="320040" cy="365760"/>
          </a:xfrm>
          <a:prstGeom prst="rect">
            <a:avLst/>
          </a:prstGeom>
          <a:noFill/>
          <a:ln/>
        </p:spPr>
        <p:txBody>
          <a:bodyPr wrap="square" lIns="0" tIns="0" rIns="0" bIns="0" rtlCol="0" anchor="t"/>
          <a:lstStyle/>
          <a:p>
            <a:pPr indent="0" marL="0">
              <a:buNone/>
            </a:pPr>
            <a:r>
              <a:rPr lang="en-US" sz="1600" b="1" dirty="0">
                <a:solidFill>
                  <a:srgbClr val="E8871E"/>
                </a:solidFill>
                <a:latin typeface="Calibri" pitchFamily="34" charset="0"/>
                <a:ea typeface="Calibri" pitchFamily="34" charset="-122"/>
                <a:cs typeface="Calibri" pitchFamily="34" charset="-120"/>
              </a:rPr>
              <a:t>3</a:t>
            </a:r>
            <a:endParaRPr lang="en-US" sz="1600" dirty="0"/>
          </a:p>
        </p:txBody>
      </p:sp>
      <p:sp>
        <p:nvSpPr>
          <p:cNvPr id="11" name="Text 7"/>
          <p:cNvSpPr txBox="1"/>
          <p:nvPr/>
        </p:nvSpPr>
        <p:spPr>
          <a:xfrm>
            <a:off x="6858000" y="2066544"/>
            <a:ext cx="1828800" cy="365760"/>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Weather</a:t>
            </a:r>
            <a:endParaRPr lang="en-US" sz="1300" dirty="0"/>
          </a:p>
        </p:txBody>
      </p:sp>
      <p:sp>
        <p:nvSpPr>
          <p:cNvPr id="12" name="Text 8"/>
          <p:cNvSpPr txBox="1"/>
          <p:nvPr/>
        </p:nvSpPr>
        <p:spPr>
          <a:xfrm>
            <a:off x="6492240" y="2551176"/>
            <a:ext cx="320040" cy="365760"/>
          </a:xfrm>
          <a:prstGeom prst="rect">
            <a:avLst/>
          </a:prstGeom>
          <a:noFill/>
          <a:ln/>
        </p:spPr>
        <p:txBody>
          <a:bodyPr wrap="square" lIns="0" tIns="0" rIns="0" bIns="0" rtlCol="0" anchor="t"/>
          <a:lstStyle/>
          <a:p>
            <a:pPr indent="0" marL="0">
              <a:buNone/>
            </a:pPr>
            <a:r>
              <a:rPr lang="en-US" sz="1600" b="1" dirty="0">
                <a:solidFill>
                  <a:srgbClr val="E8871E"/>
                </a:solidFill>
                <a:latin typeface="Calibri" pitchFamily="34" charset="0"/>
                <a:ea typeface="Calibri" pitchFamily="34" charset="-122"/>
                <a:cs typeface="Calibri" pitchFamily="34" charset="-120"/>
              </a:rPr>
              <a:t>4</a:t>
            </a:r>
            <a:endParaRPr lang="en-US" sz="1600" dirty="0"/>
          </a:p>
        </p:txBody>
      </p:sp>
      <p:sp>
        <p:nvSpPr>
          <p:cNvPr id="13" name="Text 9"/>
          <p:cNvSpPr txBox="1"/>
          <p:nvPr/>
        </p:nvSpPr>
        <p:spPr>
          <a:xfrm>
            <a:off x="6858000" y="2596896"/>
            <a:ext cx="1828800" cy="365760"/>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24-hour forecast</a:t>
            </a:r>
            <a:endParaRPr lang="en-US" sz="1300" dirty="0"/>
          </a:p>
        </p:txBody>
      </p:sp>
      <p:sp>
        <p:nvSpPr>
          <p:cNvPr id="14" name="Text 10"/>
          <p:cNvSpPr txBox="1"/>
          <p:nvPr/>
        </p:nvSpPr>
        <p:spPr>
          <a:xfrm>
            <a:off x="6492240" y="3081528"/>
            <a:ext cx="320040" cy="365760"/>
          </a:xfrm>
          <a:prstGeom prst="rect">
            <a:avLst/>
          </a:prstGeom>
          <a:noFill/>
          <a:ln/>
        </p:spPr>
        <p:txBody>
          <a:bodyPr wrap="square" lIns="0" tIns="0" rIns="0" bIns="0" rtlCol="0" anchor="t"/>
          <a:lstStyle/>
          <a:p>
            <a:pPr indent="0" marL="0">
              <a:buNone/>
            </a:pPr>
            <a:r>
              <a:rPr lang="en-US" sz="1600" b="1" dirty="0">
                <a:solidFill>
                  <a:srgbClr val="E8871E"/>
                </a:solidFill>
                <a:latin typeface="Calibri" pitchFamily="34" charset="0"/>
                <a:ea typeface="Calibri" pitchFamily="34" charset="-122"/>
                <a:cs typeface="Calibri" pitchFamily="34" charset="-120"/>
              </a:rPr>
              <a:t>5</a:t>
            </a:r>
            <a:endParaRPr lang="en-US" sz="1600" dirty="0"/>
          </a:p>
        </p:txBody>
      </p:sp>
      <p:sp>
        <p:nvSpPr>
          <p:cNvPr id="15" name="Text 11"/>
          <p:cNvSpPr txBox="1"/>
          <p:nvPr/>
        </p:nvSpPr>
        <p:spPr>
          <a:xfrm>
            <a:off x="6858000" y="3127248"/>
            <a:ext cx="1828800" cy="365760"/>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Uncertainty</a:t>
            </a:r>
            <a:endParaRPr lang="en-US" sz="1300" dirty="0"/>
          </a:p>
        </p:txBody>
      </p:sp>
      <p:sp>
        <p:nvSpPr>
          <p:cNvPr id="16" name="Text 12"/>
          <p:cNvSpPr txBox="1"/>
          <p:nvPr/>
        </p:nvSpPr>
        <p:spPr>
          <a:xfrm>
            <a:off x="6492240" y="3611880"/>
            <a:ext cx="320040" cy="365760"/>
          </a:xfrm>
          <a:prstGeom prst="rect">
            <a:avLst/>
          </a:prstGeom>
          <a:noFill/>
          <a:ln/>
        </p:spPr>
        <p:txBody>
          <a:bodyPr wrap="square" lIns="0" tIns="0" rIns="0" bIns="0" rtlCol="0" anchor="t"/>
          <a:lstStyle/>
          <a:p>
            <a:pPr indent="0" marL="0">
              <a:buNone/>
            </a:pPr>
            <a:r>
              <a:rPr lang="en-US" sz="1600" b="1" dirty="0">
                <a:solidFill>
                  <a:srgbClr val="E8871E"/>
                </a:solidFill>
                <a:latin typeface="Calibri" pitchFamily="34" charset="0"/>
                <a:ea typeface="Calibri" pitchFamily="34" charset="-122"/>
                <a:cs typeface="Calibri" pitchFamily="34" charset="-120"/>
              </a:rPr>
              <a:t>6</a:t>
            </a:r>
            <a:endParaRPr lang="en-US" sz="1600" dirty="0"/>
          </a:p>
        </p:txBody>
      </p:sp>
      <p:sp>
        <p:nvSpPr>
          <p:cNvPr id="17" name="Text 13"/>
          <p:cNvSpPr txBox="1"/>
          <p:nvPr/>
        </p:nvSpPr>
        <p:spPr>
          <a:xfrm>
            <a:off x="6858000" y="3657600"/>
            <a:ext cx="1828800" cy="365760"/>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Model evidence</a:t>
            </a:r>
            <a:endParaRPr lang="en-US" sz="1300" dirty="0"/>
          </a:p>
        </p:txBody>
      </p:sp>
      <p:sp>
        <p:nvSpPr>
          <p:cNvPr id="18" name="Text 14"/>
          <p:cNvSpPr txBox="1"/>
          <p:nvPr/>
        </p:nvSpPr>
        <p:spPr>
          <a:xfrm>
            <a:off x="6492240" y="4142232"/>
            <a:ext cx="320040" cy="365760"/>
          </a:xfrm>
          <a:prstGeom prst="rect">
            <a:avLst/>
          </a:prstGeom>
          <a:noFill/>
          <a:ln/>
        </p:spPr>
        <p:txBody>
          <a:bodyPr wrap="square" lIns="0" tIns="0" rIns="0" bIns="0" rtlCol="0" anchor="t"/>
          <a:lstStyle/>
          <a:p>
            <a:pPr indent="0" marL="0">
              <a:buNone/>
            </a:pPr>
            <a:r>
              <a:rPr lang="en-US" sz="1600" b="1" dirty="0">
                <a:solidFill>
                  <a:srgbClr val="E8871E"/>
                </a:solidFill>
                <a:latin typeface="Calibri" pitchFamily="34" charset="0"/>
                <a:ea typeface="Calibri" pitchFamily="34" charset="-122"/>
                <a:cs typeface="Calibri" pitchFamily="34" charset="-120"/>
              </a:rPr>
              <a:t>7</a:t>
            </a:r>
            <a:endParaRPr lang="en-US" sz="1600" dirty="0"/>
          </a:p>
        </p:txBody>
      </p:sp>
      <p:sp>
        <p:nvSpPr>
          <p:cNvPr id="19" name="Text 15"/>
          <p:cNvSpPr txBox="1"/>
          <p:nvPr/>
        </p:nvSpPr>
        <p:spPr>
          <a:xfrm>
            <a:off x="6858000" y="4187952"/>
            <a:ext cx="1828800" cy="365760"/>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Decision Assistant</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822960"/>
            <a:ext cx="8046720" cy="731520"/>
          </a:xfrm>
          <a:prstGeom prst="rect">
            <a:avLst/>
          </a:prstGeom>
          <a:noFill/>
          <a:ln/>
        </p:spPr>
        <p:txBody>
          <a:bodyPr wrap="square" lIns="0" tIns="0" rIns="0" bIns="0" rtlCol="0" anchor="t"/>
          <a:lstStyle/>
          <a:p>
            <a:pPr indent="0" marL="0">
              <a:buNone/>
            </a:pPr>
            <a:r>
              <a:rPr lang="en-US" sz="3400" b="1" dirty="0">
                <a:solidFill>
                  <a:srgbClr val="1F8A70"/>
                </a:solidFill>
                <a:latin typeface="Calibri" pitchFamily="34" charset="0"/>
                <a:ea typeface="Calibri" pitchFamily="34" charset="-122"/>
                <a:cs typeface="Calibri" pitchFamily="34" charset="-120"/>
              </a:rPr>
              <a:t>From Data → Prediction → Action</a:t>
            </a:r>
            <a:endParaRPr lang="en-US" sz="3400" dirty="0"/>
          </a:p>
        </p:txBody>
      </p:sp>
      <p:sp>
        <p:nvSpPr>
          <p:cNvPr id="3" name="Text 1"/>
          <p:cNvSpPr txBox="1"/>
          <p:nvPr/>
        </p:nvSpPr>
        <p:spPr>
          <a:xfrm>
            <a:off x="548640" y="1920240"/>
            <a:ext cx="7498080" cy="1097280"/>
          </a:xfrm>
          <a:prstGeom prst="rect">
            <a:avLst/>
          </a:prstGeom>
          <a:noFill/>
          <a:ln/>
        </p:spPr>
        <p:txBody>
          <a:bodyPr wrap="square" lIns="0" tIns="0" rIns="0" bIns="0" rtlCol="0" anchor="t"/>
          <a:lstStyle/>
          <a:p>
            <a:pPr indent="0" marL="0">
              <a:buNone/>
            </a:pPr>
            <a:r>
              <a:rPr lang="en-US" sz="2000" i="1" dirty="0">
                <a:solidFill>
                  <a:srgbClr val="1F2A37"/>
                </a:solidFill>
                <a:latin typeface="Calibri" pitchFamily="34" charset="0"/>
                <a:ea typeface="Calibri" pitchFamily="34" charset="-122"/>
                <a:cs typeface="Calibri" pitchFamily="34" charset="-120"/>
              </a:rPr>
              <a:t>“Don’t just tell people how polluted the air is. Tell them what may happen next — and what they can do about it.”</a:t>
            </a:r>
            <a:endParaRPr lang="en-US" sz="2000" dirty="0"/>
          </a:p>
        </p:txBody>
      </p:sp>
      <p:sp>
        <p:nvSpPr>
          <p:cNvPr id="4" name="Text 2"/>
          <p:cNvSpPr txBox="1"/>
          <p:nvPr/>
        </p:nvSpPr>
        <p:spPr>
          <a:xfrm>
            <a:off x="548640" y="3474720"/>
            <a:ext cx="7315200" cy="457200"/>
          </a:xfrm>
          <a:prstGeom prst="rect">
            <a:avLst/>
          </a:prstGeom>
          <a:noFill/>
          <a:ln/>
        </p:spPr>
        <p:txBody>
          <a:bodyPr wrap="square" lIns="0" tIns="0" rIns="0" bIns="0" rtlCol="0" anchor="t"/>
          <a:lstStyle/>
          <a:p>
            <a:pPr indent="0" marL="0">
              <a:buNone/>
            </a:pPr>
            <a:r>
              <a:rPr lang="en-US" sz="2200" b="1" dirty="0">
                <a:solidFill>
                  <a:srgbClr val="E8871E"/>
                </a:solidFill>
                <a:latin typeface="Calibri" pitchFamily="34" charset="0"/>
                <a:ea typeface="Calibri" pitchFamily="34" charset="-122"/>
                <a:cs typeface="Calibri" pitchFamily="34" charset="-120"/>
              </a:rPr>
              <a:t>HackInsight</a:t>
            </a:r>
            <a:endParaRPr lang="en-US" sz="2200" dirty="0"/>
          </a:p>
        </p:txBody>
      </p:sp>
      <p:sp>
        <p:nvSpPr>
          <p:cNvPr id="5" name="Text 3"/>
          <p:cNvSpPr txBox="1"/>
          <p:nvPr/>
        </p:nvSpPr>
        <p:spPr>
          <a:xfrm>
            <a:off x="548640" y="3931920"/>
            <a:ext cx="7315200" cy="365760"/>
          </a:xfrm>
          <a:prstGeom prst="rect">
            <a:avLst/>
          </a:prstGeom>
          <a:noFill/>
          <a:ln/>
        </p:spPr>
        <p:txBody>
          <a:bodyPr wrap="square" lIns="0" tIns="0" rIns="0" bIns="0" rtlCol="0" anchor="t"/>
          <a:lstStyle/>
          <a:p>
            <a:pPr indent="0" marL="0">
              <a:buNone/>
            </a:pPr>
            <a:r>
              <a:rPr lang="en-US" sz="1400" dirty="0">
                <a:solidFill>
                  <a:srgbClr val="5B6773"/>
                </a:solidFill>
                <a:latin typeface="Calibri" pitchFamily="34" charset="0"/>
                <a:ea typeface="Calibri" pitchFamily="34" charset="-122"/>
                <a:cs typeface="Calibri" pitchFamily="34" charset="-120"/>
              </a:rPr>
              <a:t>Laiba Akram · Ali Hasan · Areeba · Bushra Abid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HackInsight</dc:title>
  <dc:subject>PptxGenJS Presentation</dc:subject>
  <dc:creator>PptxGenJS</dc:creator>
  <cp:lastModifiedBy>PptxGenJS</cp:lastModifiedBy>
  <cp:revision>1</cp:revision>
  <dcterms:created xsi:type="dcterms:W3CDTF">2026-10-21T18:12:25Z</dcterms:created>
  <dcterms:modified xsi:type="dcterms:W3CDTF">2026-10-21T18:12:25Z</dcterms:modified>
</cp:coreProperties>
</file>